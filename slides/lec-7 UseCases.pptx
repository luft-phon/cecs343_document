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256" r:id="rId2"/>
    <p:sldId id="550" r:id="rId3"/>
    <p:sldId id="551" r:id="rId4"/>
    <p:sldId id="552" r:id="rId5"/>
    <p:sldId id="561" r:id="rId6"/>
    <p:sldId id="259" r:id="rId7"/>
    <p:sldId id="260" r:id="rId8"/>
    <p:sldId id="261" r:id="rId9"/>
    <p:sldId id="262" r:id="rId10"/>
    <p:sldId id="263" r:id="rId11"/>
    <p:sldId id="422" r:id="rId12"/>
    <p:sldId id="423" r:id="rId13"/>
    <p:sldId id="284" r:id="rId14"/>
    <p:sldId id="574" r:id="rId15"/>
    <p:sldId id="576" r:id="rId16"/>
    <p:sldId id="577" r:id="rId17"/>
    <p:sldId id="530" r:id="rId18"/>
    <p:sldId id="401" r:id="rId19"/>
    <p:sldId id="568" r:id="rId20"/>
    <p:sldId id="569" r:id="rId21"/>
    <p:sldId id="553" r:id="rId22"/>
    <p:sldId id="554" r:id="rId23"/>
    <p:sldId id="555" r:id="rId24"/>
    <p:sldId id="556" r:id="rId25"/>
    <p:sldId id="557" r:id="rId26"/>
    <p:sldId id="558" r:id="rId27"/>
    <p:sldId id="559" r:id="rId28"/>
    <p:sldId id="571" r:id="rId29"/>
    <p:sldId id="572" r:id="rId30"/>
    <p:sldId id="573" r:id="rId31"/>
    <p:sldId id="383" r:id="rId32"/>
    <p:sldId id="384" r:id="rId33"/>
    <p:sldId id="563" r:id="rId34"/>
    <p:sldId id="565" r:id="rId35"/>
    <p:sldId id="566" r:id="rId36"/>
    <p:sldId id="567" r:id="rId37"/>
    <p:sldId id="570" r:id="rId38"/>
    <p:sldId id="578" r:id="rId39"/>
    <p:sldId id="579" r:id="rId40"/>
    <p:sldId id="580" r:id="rId41"/>
    <p:sldId id="581" r:id="rId42"/>
    <p:sldId id="583" r:id="rId43"/>
    <p:sldId id="582" r:id="rId44"/>
  </p:sldIdLst>
  <p:sldSz cx="9144000" cy="6858000" type="screen4x3"/>
  <p:notesSz cx="68580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0000"/>
    <a:srgbClr val="F1FCAE"/>
    <a:srgbClr val="4D4D4D"/>
    <a:srgbClr val="777777"/>
    <a:srgbClr val="FF0000"/>
    <a:srgbClr val="B2B2B2"/>
    <a:srgbClr val="C0C0C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3637" autoAdjust="0"/>
  </p:normalViewPr>
  <p:slideViewPr>
    <p:cSldViewPr snapToGrid="0">
      <p:cViewPr varScale="1">
        <p:scale>
          <a:sx n="151" d="100"/>
          <a:sy n="151" d="100"/>
        </p:scale>
        <p:origin x="453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7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E05AF764-CC01-115A-8461-C71A208A481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D75E59A4-2B5D-A6BF-DDC6-31D2888B8FE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6A9EF986-EB53-50AF-B2F9-2E66FE998AD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2971800" cy="4651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89F69D95-1A7C-410B-91CA-20FA44CB19E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831263"/>
            <a:ext cx="2971800" cy="4651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AA92943-BAB4-4693-A1DC-F79359473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CB152472-C462-862C-DFFC-06AD06CF231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177FC3DD-8156-87DC-8A4D-1CF0CCCA95F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6675" y="0"/>
            <a:ext cx="298132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8A7FDBB7-7276-8AF4-D3E6-5E775000C3D4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092200" y="685800"/>
            <a:ext cx="4673600" cy="3505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47B434EF-1A57-357E-32AD-82D93773E3A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3763" y="4419600"/>
            <a:ext cx="5070475" cy="419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9BB92327-5B85-AB66-E043-0B3CB72A220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9200"/>
            <a:ext cx="298132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468FE719-F2E4-81AF-43D3-FB383B08DC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6675" y="8839200"/>
            <a:ext cx="298132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A5803126-F035-4809-AE4C-E4DB3E6ADB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D61E2F1F-DA0E-63E2-5586-73718CF717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A4B7F08-75B8-4735-B98F-45F0B05E2F47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C0B0A7CA-BA83-3A70-2D13-A8A5669477A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73497D6B-7413-9D4C-8B89-9FE9FDF080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21201542-026E-3CC3-83A4-BF7048B0CD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9F58C9A-ACAC-41C3-AC48-32B7CDDD73E3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4CAF6646-0483-C6B3-3210-68CB9CE3CD1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ADB23761-2EC2-0044-459F-53B2DB2CAD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A258F6CD-EB5C-56D8-615E-FCF54F3D87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E5FFC0D-412C-4D4F-8766-0E246FBFBE1D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F43C8C37-E9F7-572D-57FC-8326B84A51F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FD1EE22D-C4D3-1CFE-29AD-CF5B6A6044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681B994A-76FF-5762-AF56-8CE899C9B9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62AB981-A2A7-4C3A-8274-723DA1743489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18A21CF6-A68C-4EEF-B401-EB065D6C6AE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673D3279-AFE4-B0C9-CD4E-C5DA6F8DD4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1393A130-40EA-41A3-4FC2-7C80C9FE7A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7A80905-6A09-47B9-ABC7-8F3CE2507F1F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39FF1FC0-6E51-BABC-32C1-E27B67DF9B3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B2C31236-D65B-DB98-2BF0-74DA49B740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DD2775F9-79FC-5D49-4FC6-FA72A9EDAE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83FCDC1-E95C-43D8-9193-5E927F3C8F5C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E772AF10-C1FC-0E20-E0F1-5BF6B819A8E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2B122AD6-977A-740F-DDE1-D7F786DC79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8217BB94-2BB7-CD87-06FD-FDBBAAE104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4ADDFA3-8889-44E2-B2FE-1899C909A716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818EFE42-B403-7B84-D3E8-D22851853D8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4DDAADDA-AAAC-0A96-A166-8411E9977B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82C9E439-00E6-BC39-3194-C74F351261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FEA2740-590E-43AE-9181-DEBECEE44B44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288A4724-E571-CC2B-24AC-8D26E01B7CE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F4893EE1-C0CF-565E-142A-9C9893EAEF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38215BFD-B804-BBE5-FC3F-EDBD99C0FD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F90AF9C-065C-422A-B3E9-E06FF20ACF79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395A858-8824-EA81-5EC5-803705080C6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F8309845-275E-9588-119F-DD13553461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4B5FD7B4-D642-768A-FE54-D73FD1643B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A70272A-E4C4-4529-9721-C3DB518DDDA7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C3BE5D60-E897-7A2A-126C-D47F2E6ABBD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22973091-E361-6BF0-9C8A-2A6C23F3D9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726E477B-4AAE-025A-F4E6-E24286C7E3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833635D-0BF8-4E89-B0BB-A777467B7E22}" type="slidenum">
              <a:rPr lang="en-US" altLang="en-US" smtClean="0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EF02AF24-BC8C-312A-845A-DF4C022D31A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6AEE1B72-AF64-0121-C53D-32C20D78BF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1BCA0B45-F569-9602-13FF-453B66AAA5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D94A515-02C1-4BFA-89FE-D00C2F9B5854}" type="slidenum">
              <a:rPr lang="en-US" altLang="en-US" smtClean="0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91AC18AD-D41D-8384-1AFB-B42E8003FBD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ADB38D15-D1EF-F602-05D5-A4426AC615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030F2BDF-C0FB-7679-24D2-D683D696EF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FC75604-D6A5-442E-A513-DA2B839FF870}" type="slidenum">
              <a:rPr lang="en-US" altLang="en-US" smtClean="0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BF654CCD-0EC4-D12C-A2AC-FABD4886A8F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56B2F2EC-3162-5AF8-07E5-3746D57A30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E1C8F56F-4C00-4F98-684F-485DC7C78F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AE05DFF-0AA7-4CB7-A8CD-C350992BF63E}" type="slidenum">
              <a:rPr lang="en-US" altLang="en-US" smtClean="0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6551FF5C-7F66-3780-944C-33645A25250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4991260C-251A-5BA7-782E-FE11343DB7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78DD00BA-36C5-9549-7638-1B9A9C714D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E1F33B2-57C0-4EB8-8AEC-76EA93965E0B}" type="slidenum">
              <a:rPr lang="en-US" altLang="en-US" smtClean="0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62EF9D73-DDD5-B72F-E203-A13BB2DA197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A28256F1-257B-09BF-65B0-AB9E8A0923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CE9D1F76-3761-176E-E332-90761012DD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2AC65E8-C9C8-4FA2-945A-F9381036AA88}" type="slidenum">
              <a:rPr lang="en-US" altLang="en-US" smtClean="0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3235A80A-150D-3597-FB53-54CB37C37F2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FD3078FD-D8F3-8DDA-9E90-1E8340DC63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5F8C7EBF-C1BD-D49C-C275-BE5D6D94E0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9566187-32EA-405F-B668-C8283DDD3054}" type="slidenum">
              <a:rPr lang="en-US" altLang="en-US" smtClean="0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0663B9E8-869D-FBCA-B085-22B41698A32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AF890ABB-C551-C0FD-5611-E26024FB46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2A0B3447-391D-131E-34D4-B12214C0F8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C3FA9DB-4644-4FBE-B91D-90AF39078A9D}" type="slidenum">
              <a:rPr lang="en-US" altLang="en-US" smtClean="0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4A965625-E6C9-E886-26C7-A257583741C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457D0B4F-BE9D-FA9C-5720-86BE7B1B61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0832C9A3-41BA-A0FE-9F1A-2E9AC994FB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B0E944D-82EB-4BD7-9CB3-D96FA2765E0E}" type="slidenum">
              <a:rPr lang="en-US" altLang="en-US" smtClean="0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0D42DB2B-CD3C-C14B-E919-4AEA564C6DB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92AC2602-417E-4710-CE30-2B371A4366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id="{40D208A4-C4EF-673B-6BF4-017087CFEA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id="{8849ABE9-DB7B-82AD-5436-93361DD7A9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/>
              <a:t>http://newsfeed.time.com/2013/06/14/only-5-of-americans-wash-their-hands-right/</a:t>
            </a:r>
          </a:p>
          <a:p>
            <a:r>
              <a:rPr lang="en-US" altLang="en-US"/>
              <a:t>https://www.theatlantic.com/health/archive/2013/06/study-95-of-people-dont-wash-their-hands-correctly/276720/</a:t>
            </a:r>
          </a:p>
          <a:p>
            <a:r>
              <a:rPr lang="en-US" altLang="en-US"/>
              <a:t>https://www.nytimes.com/2016/04/21/health/washing-hands.html</a:t>
            </a:r>
          </a:p>
        </p:txBody>
      </p:sp>
      <p:sp>
        <p:nvSpPr>
          <p:cNvPr id="54276" name="Slide Number Placeholder 3">
            <a:extLst>
              <a:ext uri="{FF2B5EF4-FFF2-40B4-BE49-F238E27FC236}">
                <a16:creationId xmlns:a16="http://schemas.microsoft.com/office/drawing/2014/main" id="{35D5B57F-BB90-C089-0240-B203EEE810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2614F13-DE34-44E7-B0A0-CE6DE1E7DAAB}" type="slidenum">
              <a:rPr lang="en-US" altLang="en-US" sz="1200" b="0" smtClean="0">
                <a:latin typeface="Times New Roman" panose="02020603050405020304" pitchFamily="18" charset="0"/>
              </a:rPr>
              <a:pPr/>
              <a:t>30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868D4811-6751-C044-3EDD-B776AB80D0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ADA6963-FCFA-43E5-B362-371F22C7719C}" type="slidenum">
              <a:rPr lang="en-US" altLang="en-US" smtClean="0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ED9F5167-8B7B-26F4-1854-A05F0596EA7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AD6486E3-E430-ED94-855C-F4BADC31D2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329E6359-5D49-0EED-EE84-BB7731E6C2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23F7237-D8F4-4856-936A-168F518DA76F}" type="slidenum">
              <a:rPr lang="en-US" altLang="en-US" smtClean="0"/>
              <a:pPr>
                <a:spcBef>
                  <a:spcPct val="0"/>
                </a:spcBef>
              </a:pPr>
              <a:t>32</a:t>
            </a:fld>
            <a:endParaRPr lang="en-US" altLang="en-US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208C599A-7C2B-427E-E20A-E858685416E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E59210A9-3815-6AB3-D839-4F1A08B885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74FE23F4-8F83-085A-59D4-2AD26DDEDA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62250F4-5306-433D-AD1B-F2F9A4C2F59F}" type="slidenum">
              <a:rPr lang="en-US" altLang="en-US" smtClean="0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D80D9BE9-ABAD-7001-0979-B763081B14A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C2D29BDF-1906-55EB-A924-67C5E25652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8084A8EB-8A7C-59F6-E8E8-48EE724003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520B168-A7FB-4560-9BE8-411FFE350FBE}" type="slidenum">
              <a:rPr lang="en-US" altLang="en-US" smtClean="0"/>
              <a:pPr>
                <a:spcBef>
                  <a:spcPct val="0"/>
                </a:spcBef>
              </a:pPr>
              <a:t>34</a:t>
            </a:fld>
            <a:endParaRPr lang="en-US" altLang="en-US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0AA50965-DB53-D40F-C2BD-8BC1E8A5141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E2BB9965-AB6D-3F2E-64B8-72DD02BD5B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9C8A18AD-B9E9-0D1A-8941-634015AEF5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8B1E9DE-31BE-4308-9ACA-B49EAFDD98CC}" type="slidenum">
              <a:rPr lang="en-US" altLang="en-US" smtClean="0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C3EE7A5A-6106-082E-E1E3-B66D34603D6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2B2A03BA-F89B-4F52-2298-15B9769B1D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EDB4E757-B985-C5DD-C2E0-F6A24848F6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F497995-7E50-4E71-B5C1-F0046DDA4DE0}" type="slidenum">
              <a:rPr lang="en-US" altLang="en-US" smtClean="0"/>
              <a:pPr>
                <a:spcBef>
                  <a:spcPct val="0"/>
                </a:spcBef>
              </a:pPr>
              <a:t>36</a:t>
            </a:fld>
            <a:endParaRPr lang="en-US" altLang="en-US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B6CFEB3A-A473-0B4F-2908-86D428943CE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37507F00-C8DD-2A82-FE8E-0F99E7B077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55B1A17E-4CAB-0B37-591F-1C3FDBED8E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1A56135-C586-4263-8856-5F2219A4BF4A}" type="slidenum">
              <a:rPr lang="en-US" altLang="en-US" smtClean="0"/>
              <a:pPr>
                <a:spcBef>
                  <a:spcPct val="0"/>
                </a:spcBef>
              </a:pPr>
              <a:t>43</a:t>
            </a:fld>
            <a:endParaRPr lang="en-US" altLang="en-US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61B3D495-7B5B-DA32-B935-3C42F6BC270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54C60430-4539-91F3-E0F8-D2347FEF73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4B4D683-EBD0-385C-E8EF-B042A1CA4A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C9A4FC2-3223-9D60-6290-C86AD70BE3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0824770-5FD3-D404-4F7D-048B924209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30D6C3-46A2-4F08-9D61-0A3D270C28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5185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>
                <a:latin typeface="Arial Rounded MT Bold" panose="020F07040305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rgbClr val="680000"/>
              </a:buClr>
              <a:buFont typeface="Wingdings" panose="05000000000000000000" pitchFamily="2" charset="2"/>
              <a:buChar char="q"/>
              <a:defRPr>
                <a:latin typeface="AvantGarde Bk BT" panose="020B0402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46E0A94-9E03-EA61-9117-77A6288071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97E535-52AC-952A-5D9A-A1A3159738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686807-B0CC-8E97-C9D6-0BB7DBCE2C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B3518C-493D-4162-AF74-3BC56474DA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0135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FC08680-3C5E-1FF4-4ED1-EFB1D4FD98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377822A-729F-CEBC-7F5B-4D14D3693B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A99D4DF-DA8C-1C4B-BB8D-D45DAFA163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94F7FA-FE76-495C-B94B-F067F252D3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528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825" y="1600200"/>
            <a:ext cx="4129088" cy="46815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86313" y="1600200"/>
            <a:ext cx="4129087" cy="46815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E0C904-0024-5A79-7B93-2A6008C292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9FBA5C-F140-4AF6-64CF-5AEEAFC8FC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1DC8ED-5972-45F2-C527-4FE78E23A1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114D64-0933-4027-B046-4C84BF74C2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6844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23E4B29-B250-6C12-0A48-68BB4FA597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5A51EE9-DA02-CEA4-0225-4B4E2B7257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0425CF6-4D47-B811-347C-2218286817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670A37-4213-47EB-B0DA-095C30CC64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7281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>
                <a:latin typeface="Arial Rounded MT Bold" panose="020F07040305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CC371A9-94BD-DF30-2288-2E1C5D6968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43EE87C-F74A-535D-3631-1B43D878A4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C245D3F-2737-9BB3-406E-4D4EC69441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427426-9027-437A-A6E7-65FDFF8758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9087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2AA1238-B7EF-5D31-C224-ED626A2481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0BCF119-A3A8-C1A5-5BB4-08BF7D82F7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2301783-44FC-5772-C9B7-680BEFFFEF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0B1ADF-4932-42F3-AB07-D2F70790A0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1743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1698B8-1FC7-0F21-C531-635E7F0430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D0CD8C-4B2A-9F56-25EF-47E9EEB6F7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3DD498-4522-B455-3F79-5D9DB00AAF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EDF16E-FDF0-4486-8C20-A8C9A2F012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2138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06C957-6D7A-8E02-5D77-17F256D80E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BA0FEA-F653-69F3-CC17-BF1293661B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EE5E01-C1F0-179A-9DC4-3E0F1F72E2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45C908-27B9-41A0-A36A-427982DC75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5158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7E74DC7-CB09-0672-67ED-287453A53D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04E06DA-4FB5-341F-DCC1-07A4D4C87B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FEA51C9-258E-3643-21F9-4AC968B098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718CF-BC6D-4076-A416-3D459586A6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3677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10375" y="152400"/>
            <a:ext cx="2143125" cy="61293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276975" cy="6129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23CF807-14E6-8C77-5F9F-14E37F673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CA81606-6EFE-83B3-C897-BFD6A5F660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38AA476-2BDD-EFED-12B7-03E1918A7E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2B2BAB-1D61-4DB3-BC57-1B12CF5931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3520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097507-CE97-6BBF-5288-577F609A4C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5725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658456B-5AB0-244A-0EB5-2BE2110B17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4825" y="1600200"/>
            <a:ext cx="8410575" cy="4681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C2CE57A-2A03-FD8C-7944-F29AF5EE0A0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2F8621A-77AF-9265-BB17-63FDC6F56BF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287AE95-2E4E-8BF2-94BB-A727023DA7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33F5053-0953-4C43-890F-70BD8BA864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Line 7">
            <a:extLst>
              <a:ext uri="{FF2B5EF4-FFF2-40B4-BE49-F238E27FC236}">
                <a16:creationId xmlns:a16="http://schemas.microsoft.com/office/drawing/2014/main" id="{38623DD4-9A43-B3F1-777F-4747017C77B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371600"/>
            <a:ext cx="9144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4">
            <a:extLst>
              <a:ext uri="{FF2B5EF4-FFF2-40B4-BE49-F238E27FC236}">
                <a16:creationId xmlns:a16="http://schemas.microsoft.com/office/drawing/2014/main" id="{619691B8-C3FF-D7CB-023B-5B9C8D7EE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190500"/>
            <a:ext cx="4986337" cy="296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099" name="Rectangle 5">
            <a:extLst>
              <a:ext uri="{FF2B5EF4-FFF2-40B4-BE49-F238E27FC236}">
                <a16:creationId xmlns:a16="http://schemas.microsoft.com/office/drawing/2014/main" id="{7945CA94-00C5-DC9D-247F-5356C442A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7900" y="4276725"/>
            <a:ext cx="2117725" cy="58420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3200" b="0"/>
              <a:t>Use Cases</a:t>
            </a:r>
          </a:p>
        </p:txBody>
      </p:sp>
      <p:sp>
        <p:nvSpPr>
          <p:cNvPr id="4100" name="Rectangle 1">
            <a:extLst>
              <a:ext uri="{FF2B5EF4-FFF2-40B4-BE49-F238E27FC236}">
                <a16:creationId xmlns:a16="http://schemas.microsoft.com/office/drawing/2014/main" id="{1A93D4B6-13D9-00B4-84E8-604EAF014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025" y="5895975"/>
            <a:ext cx="7456488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Homework : Reading from page 88 to 109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Why we create sequence diagram from use case diagram?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0C1F12F-F9BE-42F5-F882-F06F4EDCC4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Topics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B59D650-57E5-3D5C-E4BE-6EB9CBFE97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Actors, Goals</a:t>
            </a:r>
          </a:p>
          <a:p>
            <a:pPr eaLnBrk="1" hangingPunct="1"/>
            <a:r>
              <a:rPr lang="en-US" altLang="en-US"/>
              <a:t>Sketchy/Summary Use Cases</a:t>
            </a:r>
          </a:p>
          <a:p>
            <a:pPr eaLnBrk="1" hangingPunct="1"/>
            <a:r>
              <a:rPr lang="en-US" altLang="en-US"/>
              <a:t>Use Case Diagram</a:t>
            </a:r>
          </a:p>
          <a:p>
            <a:pPr eaLnBrk="1" hangingPunct="1"/>
            <a:r>
              <a:rPr lang="en-US" altLang="en-US"/>
              <a:t>Traceability Matrix</a:t>
            </a:r>
          </a:p>
          <a:p>
            <a:pPr eaLnBrk="1" hangingPunct="1"/>
            <a:r>
              <a:rPr lang="en-US" altLang="en-US"/>
              <a:t>System Boundary and Subsystems</a:t>
            </a:r>
          </a:p>
          <a:p>
            <a:pPr eaLnBrk="1" hangingPunct="1"/>
            <a:r>
              <a:rPr lang="en-US" altLang="en-US"/>
              <a:t>Detailed Use Case Specification</a:t>
            </a:r>
          </a:p>
          <a:p>
            <a:pPr eaLnBrk="1" hangingPunct="1"/>
            <a:r>
              <a:rPr lang="en-US" altLang="en-US"/>
              <a:t>System Sequence Diagrams</a:t>
            </a:r>
          </a:p>
          <a:p>
            <a:pPr eaLnBrk="1" hangingPunct="1"/>
            <a:r>
              <a:rPr lang="en-US" altLang="en-US"/>
              <a:t>Security and Risk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09E9BB2-6BDC-D233-B8DE-2131E63494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Use Cases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EBB7566-38F3-2E51-3C3B-A3999B41DC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8925" y="1600200"/>
            <a:ext cx="8626475" cy="4681538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defRPr/>
            </a:pPr>
            <a:r>
              <a:rPr lang="en-US" altLang="en-US" dirty="0"/>
              <a:t>Used for Functional Requirements Analysis and Specification</a:t>
            </a:r>
          </a:p>
          <a:p>
            <a:pPr eaLnBrk="1" hangingPunct="1">
              <a:spcBef>
                <a:spcPts val="800"/>
              </a:spcBef>
              <a:defRPr/>
            </a:pPr>
            <a:r>
              <a:rPr lang="en-US" altLang="en-US" dirty="0"/>
              <a:t>A </a:t>
            </a:r>
            <a:r>
              <a:rPr lang="en-US" altLang="en-US" b="1" i="1" dirty="0">
                <a:solidFill>
                  <a:srgbClr val="680000"/>
                </a:solidFill>
              </a:rPr>
              <a:t>use case</a:t>
            </a:r>
            <a:r>
              <a:rPr lang="en-US" altLang="en-US" i="1" dirty="0">
                <a:solidFill>
                  <a:srgbClr val="680000"/>
                </a:solidFill>
              </a:rPr>
              <a:t> </a:t>
            </a:r>
            <a:r>
              <a:rPr lang="en-US" altLang="en-US" dirty="0"/>
              <a:t>is a step-by-step description of how a user will use the system-to-be to accomplish business goals</a:t>
            </a:r>
          </a:p>
          <a:p>
            <a:pPr eaLnBrk="1" hangingPunct="1">
              <a:spcBef>
                <a:spcPts val="800"/>
              </a:spcBef>
              <a:defRPr/>
            </a:pPr>
            <a:r>
              <a:rPr lang="en-US" altLang="en-US" dirty="0"/>
              <a:t>Three key </a:t>
            </a:r>
            <a:r>
              <a:rPr lang="en-US" altLang="en-US" i="1" dirty="0"/>
              <a:t>elements</a:t>
            </a:r>
            <a:r>
              <a:rPr lang="en-US" altLang="en-US" dirty="0"/>
              <a:t> of use cases:</a:t>
            </a:r>
          </a:p>
          <a:p>
            <a:pPr marL="914400" lvl="1" indent="-457200" eaLnBrk="1" hangingPunct="1">
              <a:buFont typeface="+mj-lt"/>
              <a:buAutoNum type="arabicPeriod"/>
              <a:defRPr/>
            </a:pPr>
            <a:r>
              <a:rPr lang="en-US" altLang="en-US" dirty="0"/>
              <a:t>Environmental agents or </a:t>
            </a:r>
            <a:r>
              <a:rPr lang="en-US" altLang="en-US" u="sng" dirty="0"/>
              <a:t>actors</a:t>
            </a:r>
            <a:r>
              <a:rPr lang="en-US" altLang="en-US" dirty="0"/>
              <a:t> that will cooperate with the system</a:t>
            </a:r>
          </a:p>
          <a:p>
            <a:pPr marL="914400" lvl="1" indent="-457200" eaLnBrk="1" hangingPunct="1">
              <a:buFont typeface="+mj-lt"/>
              <a:buAutoNum type="arabicPeriod"/>
              <a:defRPr/>
            </a:pPr>
            <a:r>
              <a:rPr lang="en-US" altLang="en-US" u="sng" dirty="0"/>
              <a:t>Use case diagram</a:t>
            </a:r>
            <a:r>
              <a:rPr lang="en-US" altLang="en-US" dirty="0"/>
              <a:t> shows relations of the actors and use cases</a:t>
            </a:r>
          </a:p>
          <a:p>
            <a:pPr marL="914400" lvl="1" indent="-457200" eaLnBrk="1" hangingPunct="1">
              <a:buFont typeface="+mj-lt"/>
              <a:buAutoNum type="arabicPeriod"/>
              <a:defRPr/>
            </a:pPr>
            <a:r>
              <a:rPr lang="en-US" altLang="en-US" u="sng" dirty="0"/>
              <a:t>Use case scenarios</a:t>
            </a:r>
            <a:r>
              <a:rPr lang="en-US" altLang="en-US" dirty="0"/>
              <a:t> are plans for realization of user goals</a:t>
            </a:r>
            <a:br>
              <a:rPr lang="en-US" altLang="en-US" dirty="0"/>
            </a:br>
            <a:r>
              <a:rPr lang="en-US" altLang="en-US" dirty="0"/>
              <a:t>or handling contingencies</a:t>
            </a:r>
          </a:p>
          <a:p>
            <a:pPr eaLnBrk="1" hangingPunct="1">
              <a:spcBef>
                <a:spcPts val="800"/>
              </a:spcBef>
              <a:defRPr/>
            </a:pPr>
            <a:r>
              <a:rPr lang="en-US" altLang="en-US" dirty="0">
                <a:latin typeface="Arial" panose="020B0604020202020204" pitchFamily="34" charset="0"/>
              </a:rPr>
              <a:t>Use cases </a:t>
            </a:r>
            <a:r>
              <a:rPr lang="en-US" altLang="en-US" i="1" dirty="0">
                <a:latin typeface="Arial" panose="020B0604020202020204" pitchFamily="34" charset="0"/>
              </a:rPr>
              <a:t>scenarios </a:t>
            </a:r>
            <a:r>
              <a:rPr lang="en-US" altLang="en-US" dirty="0">
                <a:latin typeface="Arial" panose="020B0604020202020204" pitchFamily="34" charset="0"/>
              </a:rPr>
              <a:t>or </a:t>
            </a:r>
            <a:r>
              <a:rPr lang="en-US" altLang="en-US" i="1" dirty="0">
                <a:latin typeface="Arial" panose="020B0604020202020204" pitchFamily="34" charset="0"/>
              </a:rPr>
              <a:t>scripts</a:t>
            </a:r>
            <a:r>
              <a:rPr lang="en-US" altLang="en-US" dirty="0">
                <a:latin typeface="Arial" panose="020B0604020202020204" pitchFamily="34" charset="0"/>
              </a:rPr>
              <a:t> show an envisioned sequence of cooperative interactions between the external actors and the system-to-be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5E756C64-D761-8401-3068-1CF1A8C907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Deriving Use Cases from</a:t>
            </a:r>
            <a:br>
              <a:rPr lang="en-US" altLang="en-US"/>
            </a:br>
            <a:r>
              <a:rPr lang="en-US" altLang="en-US"/>
              <a:t>System Requirements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29C4CE-BAB4-3299-64B2-7112C12DE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925" y="5964238"/>
            <a:ext cx="8410575" cy="641350"/>
          </a:xfrm>
        </p:spPr>
        <p:txBody>
          <a:bodyPr>
            <a:normAutofit fontScale="62500" lnSpcReduction="20000"/>
          </a:bodyPr>
          <a:lstStyle/>
          <a:p>
            <a:pPr>
              <a:defRPr/>
            </a:pPr>
            <a:r>
              <a:rPr lang="en-US" dirty="0"/>
              <a:t>Initiating actors (“users”) are already identified in user stories</a:t>
            </a:r>
          </a:p>
          <a:p>
            <a:pPr>
              <a:defRPr/>
            </a:pPr>
            <a:r>
              <a:rPr lang="en-US" dirty="0"/>
              <a:t>Participating actors identified as part of use case analysis</a:t>
            </a:r>
          </a:p>
        </p:txBody>
      </p:sp>
      <p:sp>
        <p:nvSpPr>
          <p:cNvPr id="10244" name="Text Box 5">
            <a:extLst>
              <a:ext uri="{FF2B5EF4-FFF2-40B4-BE49-F238E27FC236}">
                <a16:creationId xmlns:a16="http://schemas.microsoft.com/office/drawing/2014/main" id="{B15349B1-A1FC-7D08-6EC1-810CD46861F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23825" y="1462088"/>
            <a:ext cx="2622550" cy="1249362"/>
          </a:xfrm>
          <a:prstGeom prst="rect">
            <a:avLst/>
          </a:prstGeom>
          <a:solidFill>
            <a:schemeClr val="bg1"/>
          </a:solidFill>
          <a:ln w="57150">
            <a:solidFill>
              <a:srgbClr val="00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REQ1: Keep door locked and auto-lock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REQ2: Lock when “LOCK” pressed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REQ3: Unlock when valid key provided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REQ4: Allow mistakes but prevent dictionary attacks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REQ5: Maintain a history log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REQ6: Adding/removing users at runtime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REQ7: Configuring the device activation preferences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REQ8: Inspecting the access history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REQ9: Filing inquiries</a:t>
            </a:r>
          </a:p>
        </p:txBody>
      </p:sp>
      <p:pic>
        <p:nvPicPr>
          <p:cNvPr id="10245" name="Picture 228">
            <a:extLst>
              <a:ext uri="{FF2B5EF4-FFF2-40B4-BE49-F238E27FC236}">
                <a16:creationId xmlns:a16="http://schemas.microsoft.com/office/drawing/2014/main" id="{8A7381B8-B02E-F188-1551-97F12B04C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4938" y="1196975"/>
            <a:ext cx="1273175" cy="155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4D44D00-511A-C16B-2AE1-F83A94F88085}"/>
              </a:ext>
            </a:extLst>
          </p:cNvPr>
          <p:cNvGraphicFramePr>
            <a:graphicFrameLocks noGrp="1"/>
          </p:cNvGraphicFramePr>
          <p:nvPr/>
        </p:nvGraphicFramePr>
        <p:xfrm>
          <a:off x="542925" y="2924175"/>
          <a:ext cx="8162925" cy="2622551"/>
        </p:xfrm>
        <a:graphic>
          <a:graphicData uri="http://schemas.openxmlformats.org/drawingml/2006/table">
            <a:tbl>
              <a:tblPr/>
              <a:tblGrid>
                <a:gridCol w="837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88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89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18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Initiator</a:t>
                      </a: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kumimoji="0" 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+mn-ea"/>
                          <a:cs typeface="+mn-cs"/>
                        </a:rPr>
                        <a:t>Initiator’s Goal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kumimoji="0" 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+mn-ea"/>
                          <a:cs typeface="+mn-cs"/>
                        </a:rPr>
                        <a:t>Participants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Use Case Name</a:t>
                      </a: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3" marR="68583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49"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Tenant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Unlock and enter home.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Lock, Household Devices, Database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Unlock (UC‑1)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49"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Tenant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Lock the door.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Lock, Household Devices, Database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Lock (UC‑2)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49"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Landlord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Create a new user account and allow access to home.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Tenant, Database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AddUser (UC‑3)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31"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Landlord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Retire an existing user account and disable access.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Database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RetireUser (UC‑4)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662"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Tenant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Review the history of home accesses.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Database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ViewHistory (UC‑5)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49"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Tenant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Configure the operational preferences for household devices.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Database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SetDevicePrefs (UC‑6)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1831"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Visitor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Visit a resident’s home.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Lock, Database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2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VisitHome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(UC‑7)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1AC8CFF-08B0-8526-5EA1-4032E4DCC7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Types of Actors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8E11A363-EA26-F012-068E-4077D0257D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b="1" i="1"/>
              <a:t>Initiating actor</a:t>
            </a:r>
            <a:r>
              <a:rPr lang="en-US" altLang="en-US" i="1"/>
              <a:t> </a:t>
            </a:r>
            <a:r>
              <a:rPr lang="en-US" altLang="en-US"/>
              <a:t>(also called </a:t>
            </a:r>
            <a:r>
              <a:rPr lang="en-US" altLang="en-US" i="1"/>
              <a:t>primary actor</a:t>
            </a:r>
            <a:r>
              <a:rPr lang="en-US" altLang="en-US"/>
              <a:t> or simply “user”): initiates the use case to achieve a goal</a:t>
            </a:r>
          </a:p>
          <a:p>
            <a:pPr eaLnBrk="1" hangingPunct="1">
              <a:lnSpc>
                <a:spcPct val="90000"/>
              </a:lnSpc>
              <a:spcBef>
                <a:spcPct val="80000"/>
              </a:spcBef>
            </a:pPr>
            <a:r>
              <a:rPr lang="en-US" altLang="en-US" b="1" i="1"/>
              <a:t>Participating actor</a:t>
            </a:r>
            <a:r>
              <a:rPr lang="en-US" altLang="en-US" i="1"/>
              <a:t> </a:t>
            </a:r>
            <a:r>
              <a:rPr lang="en-US" altLang="en-US"/>
              <a:t>(also called </a:t>
            </a:r>
            <a:r>
              <a:rPr lang="en-US" altLang="en-US" i="1"/>
              <a:t>secondary actor</a:t>
            </a:r>
            <a:r>
              <a:rPr lang="en-US" altLang="en-US"/>
              <a:t>): participates in the use case but does not initiate it. Subtypes of participating actors: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 i="1">
                <a:latin typeface="Arial" panose="020B0604020202020204" pitchFamily="34" charset="0"/>
              </a:rPr>
              <a:t>Supporting actor</a:t>
            </a:r>
            <a:r>
              <a:rPr lang="en-US" altLang="en-US">
                <a:latin typeface="Arial" panose="020B0604020202020204" pitchFamily="34" charset="0"/>
              </a:rPr>
              <a:t>: helps the system-to-be to complete the use case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 i="1">
                <a:latin typeface="Arial" panose="020B0604020202020204" pitchFamily="34" charset="0"/>
              </a:rPr>
              <a:t>Offstage actor</a:t>
            </a:r>
            <a:r>
              <a:rPr lang="en-US" altLang="en-US">
                <a:latin typeface="Arial" panose="020B0604020202020204" pitchFamily="34" charset="0"/>
              </a:rPr>
              <a:t>: passively participates in the use case, i.e., neither initiates nor helps complete the use case, but may be notified about some aspect of it (e.g., for keeping records)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>
            <a:extLst>
              <a:ext uri="{FF2B5EF4-FFF2-40B4-BE49-F238E27FC236}">
                <a16:creationId xmlns:a16="http://schemas.microsoft.com/office/drawing/2014/main" id="{FD5C7DBB-29BE-FD3E-1F31-014C511168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 Case</a:t>
            </a:r>
          </a:p>
        </p:txBody>
      </p:sp>
      <p:sp>
        <p:nvSpPr>
          <p:cNvPr id="14339" name="Rectangle 7">
            <a:extLst>
              <a:ext uri="{FF2B5EF4-FFF2-40B4-BE49-F238E27FC236}">
                <a16:creationId xmlns:a16="http://schemas.microsoft.com/office/drawing/2014/main" id="{159732E6-F6F4-25E1-FF5F-6BAA75660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050" y="1943100"/>
            <a:ext cx="6057900" cy="341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“A </a:t>
            </a:r>
            <a:r>
              <a:rPr lang="en-US" altLang="en-US" sz="1800" i="1">
                <a:latin typeface="Times New Roman" panose="02020603050405020304" pitchFamily="18" charset="0"/>
              </a:rPr>
              <a:t>use case</a:t>
            </a:r>
            <a:r>
              <a:rPr lang="en-US" altLang="en-US" sz="1800">
                <a:latin typeface="Times New Roman" panose="02020603050405020304" pitchFamily="18" charset="0"/>
              </a:rPr>
              <a:t> specifies the </a:t>
            </a: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</a:rPr>
              <a:t>behavior</a:t>
            </a:r>
            <a:r>
              <a:rPr lang="en-US" altLang="en-US" sz="1800">
                <a:latin typeface="Times New Roman" panose="02020603050405020304" pitchFamily="18" charset="0"/>
              </a:rPr>
              <a:t> of a system or a part of a system, and is a description of a set of </a:t>
            </a: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</a:rPr>
              <a:t>sequences of actions</a:t>
            </a:r>
            <a:r>
              <a:rPr lang="en-US" altLang="en-US" sz="1800">
                <a:latin typeface="Times New Roman" panose="02020603050405020304" pitchFamily="18" charset="0"/>
              </a:rPr>
              <a:t>, including variants, that a system performs to yield an observable result of value to an actor.”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	- </a:t>
            </a:r>
            <a:r>
              <a:rPr lang="en-US" altLang="en-US" sz="1800" i="1">
                <a:latin typeface="Times New Roman" panose="02020603050405020304" pitchFamily="18" charset="0"/>
              </a:rPr>
              <a:t>The UML User Guide, [Booch,99]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“An </a:t>
            </a:r>
            <a:r>
              <a:rPr lang="en-US" altLang="en-US" sz="1800" i="1">
                <a:latin typeface="Times New Roman" panose="02020603050405020304" pitchFamily="18" charset="0"/>
              </a:rPr>
              <a:t>actor</a:t>
            </a:r>
            <a:r>
              <a:rPr lang="en-US" altLang="en-US" sz="1800">
                <a:latin typeface="Times New Roman" panose="02020603050405020304" pitchFamily="18" charset="0"/>
              </a:rPr>
              <a:t> is an idealization of an external person, process, or thing interacting with a system, subsystem, or class. An actor characterizes the interactions that outside users may have with the system.”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</a:rPr>
              <a:t>	- The UML Reference Manual, [Rumbaugh,99]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i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F88DBD3-7F79-77E3-7BC8-E7DB07FD74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 Case (Cont’d)</a:t>
            </a:r>
          </a:p>
        </p:txBody>
      </p:sp>
      <p:sp>
        <p:nvSpPr>
          <p:cNvPr id="89092" name="Oval 3">
            <a:extLst>
              <a:ext uri="{FF2B5EF4-FFF2-40B4-BE49-F238E27FC236}">
                <a16:creationId xmlns:a16="http://schemas.microsoft.com/office/drawing/2014/main" id="{C39B9AF5-7F28-C85A-0B45-6BA1ADC0F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100" y="2571750"/>
            <a:ext cx="1714500" cy="7429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en-US" sz="1350"/>
              <a:t>Register for Courses</a:t>
            </a:r>
          </a:p>
        </p:txBody>
      </p:sp>
      <p:sp>
        <p:nvSpPr>
          <p:cNvPr id="15364" name="Text Box 4">
            <a:extLst>
              <a:ext uri="{FF2B5EF4-FFF2-40B4-BE49-F238E27FC236}">
                <a16:creationId xmlns:a16="http://schemas.microsoft.com/office/drawing/2014/main" id="{496523BD-36C1-3764-3F80-2D9A71D7A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9100" y="2571750"/>
            <a:ext cx="34290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A use case is rendered as an ellipse in a use case diagram. A use case is always labeled with its name. </a:t>
            </a: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E1A79AA-1840-F815-1790-52B762C1E8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 Case (Cont’d)</a:t>
            </a:r>
          </a:p>
        </p:txBody>
      </p:sp>
      <p:grpSp>
        <p:nvGrpSpPr>
          <p:cNvPr id="16387" name="Group 11">
            <a:extLst>
              <a:ext uri="{FF2B5EF4-FFF2-40B4-BE49-F238E27FC236}">
                <a16:creationId xmlns:a16="http://schemas.microsoft.com/office/drawing/2014/main" id="{6FE83CC8-7D28-99B9-7E9C-BFFEC7BD1680}"/>
              </a:ext>
            </a:extLst>
          </p:cNvPr>
          <p:cNvGrpSpPr>
            <a:grpSpLocks/>
          </p:cNvGrpSpPr>
          <p:nvPr/>
        </p:nvGrpSpPr>
        <p:grpSpPr bwMode="auto">
          <a:xfrm>
            <a:off x="2400300" y="2571750"/>
            <a:ext cx="1028700" cy="2343150"/>
            <a:chOff x="1056" y="1104"/>
            <a:chExt cx="864" cy="1968"/>
          </a:xfrm>
        </p:grpSpPr>
        <p:sp>
          <p:nvSpPr>
            <p:cNvPr id="16390" name="Oval 3">
              <a:extLst>
                <a:ext uri="{FF2B5EF4-FFF2-40B4-BE49-F238E27FC236}">
                  <a16:creationId xmlns:a16="http://schemas.microsoft.com/office/drawing/2014/main" id="{07760668-BA20-FFC6-7D44-BF8796EAB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104"/>
              <a:ext cx="576" cy="5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6391" name="Line 4">
              <a:extLst>
                <a:ext uri="{FF2B5EF4-FFF2-40B4-BE49-F238E27FC236}">
                  <a16:creationId xmlns:a16="http://schemas.microsoft.com/office/drawing/2014/main" id="{03BBF1DC-719B-2596-2990-BD59C6C280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1680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2" name="Line 5">
              <a:extLst>
                <a:ext uri="{FF2B5EF4-FFF2-40B4-BE49-F238E27FC236}">
                  <a16:creationId xmlns:a16="http://schemas.microsoft.com/office/drawing/2014/main" id="{41023C32-4F62-2D55-62B3-D3E502D229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496"/>
              <a:ext cx="432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3" name="Line 6">
              <a:extLst>
                <a:ext uri="{FF2B5EF4-FFF2-40B4-BE49-F238E27FC236}">
                  <a16:creationId xmlns:a16="http://schemas.microsoft.com/office/drawing/2014/main" id="{20453050-8EAC-FFF3-FFE9-C679A792D5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4" y="2496"/>
              <a:ext cx="384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4" name="Line 8">
              <a:extLst>
                <a:ext uri="{FF2B5EF4-FFF2-40B4-BE49-F238E27FC236}">
                  <a16:creationId xmlns:a16="http://schemas.microsoft.com/office/drawing/2014/main" id="{BC7DA02F-63A8-4474-CDCD-69F2488F36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968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6388" name="Text Box 9">
            <a:extLst>
              <a:ext uri="{FF2B5EF4-FFF2-40B4-BE49-F238E27FC236}">
                <a16:creationId xmlns:a16="http://schemas.microsoft.com/office/drawing/2014/main" id="{63279436-F57C-60A6-9F76-737C12BE3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9100" y="2571750"/>
            <a:ext cx="325755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An actor is rendered as a stick figure in a use case diagram. Each actor participates in one or more use cases.</a:t>
            </a:r>
          </a:p>
        </p:txBody>
      </p:sp>
      <p:sp>
        <p:nvSpPr>
          <p:cNvPr id="16389" name="Text Box 10">
            <a:extLst>
              <a:ext uri="{FF2B5EF4-FFF2-40B4-BE49-F238E27FC236}">
                <a16:creationId xmlns:a16="http://schemas.microsoft.com/office/drawing/2014/main" id="{C33A3BA4-919D-807A-47E5-D13A902035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4914900"/>
            <a:ext cx="9715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Student</a:t>
            </a: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AAE9E16-C58D-F086-CDD6-B4AEB63D25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 Case (Cont’d)</a:t>
            </a:r>
          </a:p>
        </p:txBody>
      </p:sp>
      <p:grpSp>
        <p:nvGrpSpPr>
          <p:cNvPr id="17411" name="Group 3">
            <a:extLst>
              <a:ext uri="{FF2B5EF4-FFF2-40B4-BE49-F238E27FC236}">
                <a16:creationId xmlns:a16="http://schemas.microsoft.com/office/drawing/2014/main" id="{510F17C4-086E-D20D-17B4-3535350203E8}"/>
              </a:ext>
            </a:extLst>
          </p:cNvPr>
          <p:cNvGrpSpPr>
            <a:grpSpLocks/>
          </p:cNvGrpSpPr>
          <p:nvPr/>
        </p:nvGrpSpPr>
        <p:grpSpPr bwMode="auto">
          <a:xfrm>
            <a:off x="2400300" y="2571750"/>
            <a:ext cx="1028700" cy="2343150"/>
            <a:chOff x="1056" y="1104"/>
            <a:chExt cx="864" cy="1968"/>
          </a:xfrm>
        </p:grpSpPr>
        <p:sp>
          <p:nvSpPr>
            <p:cNvPr id="17416" name="Oval 4">
              <a:extLst>
                <a:ext uri="{FF2B5EF4-FFF2-40B4-BE49-F238E27FC236}">
                  <a16:creationId xmlns:a16="http://schemas.microsoft.com/office/drawing/2014/main" id="{2A568D85-F29A-7032-4AC7-CA3C14799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104"/>
              <a:ext cx="576" cy="5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7417" name="Line 5">
              <a:extLst>
                <a:ext uri="{FF2B5EF4-FFF2-40B4-BE49-F238E27FC236}">
                  <a16:creationId xmlns:a16="http://schemas.microsoft.com/office/drawing/2014/main" id="{8EF31C56-82EB-8FBA-F563-0D103DD7DF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1680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8" name="Line 6">
              <a:extLst>
                <a:ext uri="{FF2B5EF4-FFF2-40B4-BE49-F238E27FC236}">
                  <a16:creationId xmlns:a16="http://schemas.microsoft.com/office/drawing/2014/main" id="{410D8627-85FE-8FED-8C3B-E8BA664E2F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496"/>
              <a:ext cx="432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9" name="Line 7">
              <a:extLst>
                <a:ext uri="{FF2B5EF4-FFF2-40B4-BE49-F238E27FC236}">
                  <a16:creationId xmlns:a16="http://schemas.microsoft.com/office/drawing/2014/main" id="{B5681DBE-368E-CC05-B293-68D293F5D3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4" y="2496"/>
              <a:ext cx="384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0" name="Line 8">
              <a:extLst>
                <a:ext uri="{FF2B5EF4-FFF2-40B4-BE49-F238E27FC236}">
                  <a16:creationId xmlns:a16="http://schemas.microsoft.com/office/drawing/2014/main" id="{1A4A0090-598C-880A-7845-AF258BEF25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968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165" name="Oval 9">
            <a:extLst>
              <a:ext uri="{FF2B5EF4-FFF2-40B4-BE49-F238E27FC236}">
                <a16:creationId xmlns:a16="http://schemas.microsoft.com/office/drawing/2014/main" id="{72030443-5FD5-C0B7-4CC0-E7F903A5E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0650" y="3657600"/>
            <a:ext cx="1714500" cy="7429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en-US" sz="1350"/>
              <a:t>Register for Courses</a:t>
            </a:r>
          </a:p>
        </p:txBody>
      </p:sp>
      <p:sp>
        <p:nvSpPr>
          <p:cNvPr id="17413" name="Line 14">
            <a:extLst>
              <a:ext uri="{FF2B5EF4-FFF2-40B4-BE49-F238E27FC236}">
                <a16:creationId xmlns:a16="http://schemas.microsoft.com/office/drawing/2014/main" id="{4202D1BA-D61E-4934-1E24-724BA2CE8D6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4000500"/>
            <a:ext cx="2000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4" name="Text Box 15">
            <a:extLst>
              <a:ext uri="{FF2B5EF4-FFF2-40B4-BE49-F238E27FC236}">
                <a16:creationId xmlns:a16="http://schemas.microsoft.com/office/drawing/2014/main" id="{9129B045-9089-9399-8E65-D9C0D6819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3663" y="2289175"/>
            <a:ext cx="3897312" cy="62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Actors may be connected to use cases </a:t>
            </a:r>
          </a:p>
          <a:p>
            <a:pPr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only by associations.</a:t>
            </a:r>
          </a:p>
        </p:txBody>
      </p:sp>
      <p:sp>
        <p:nvSpPr>
          <p:cNvPr id="17415" name="Text Box 16">
            <a:extLst>
              <a:ext uri="{FF2B5EF4-FFF2-40B4-BE49-F238E27FC236}">
                <a16:creationId xmlns:a16="http://schemas.microsoft.com/office/drawing/2014/main" id="{015CA864-C3E7-F094-0945-53FB716F9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4914900"/>
            <a:ext cx="9715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Student</a:t>
            </a: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B972983-15AD-D6D6-4C96-A0D79F5FF3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 Case (Cont’d)</a:t>
            </a:r>
          </a:p>
        </p:txBody>
      </p:sp>
      <p:grpSp>
        <p:nvGrpSpPr>
          <p:cNvPr id="18435" name="Group 44">
            <a:extLst>
              <a:ext uri="{FF2B5EF4-FFF2-40B4-BE49-F238E27FC236}">
                <a16:creationId xmlns:a16="http://schemas.microsoft.com/office/drawing/2014/main" id="{69FFD6CE-5F59-DF85-AC9C-077CB61BB8B2}"/>
              </a:ext>
            </a:extLst>
          </p:cNvPr>
          <p:cNvGrpSpPr>
            <a:grpSpLocks/>
          </p:cNvGrpSpPr>
          <p:nvPr/>
        </p:nvGrpSpPr>
        <p:grpSpPr bwMode="auto">
          <a:xfrm>
            <a:off x="2241550" y="2686050"/>
            <a:ext cx="4676775" cy="2436813"/>
            <a:chOff x="922" y="1536"/>
            <a:chExt cx="3929" cy="2047"/>
          </a:xfrm>
        </p:grpSpPr>
        <p:grpSp>
          <p:nvGrpSpPr>
            <p:cNvPr id="18437" name="Group 3">
              <a:extLst>
                <a:ext uri="{FF2B5EF4-FFF2-40B4-BE49-F238E27FC236}">
                  <a16:creationId xmlns:a16="http://schemas.microsoft.com/office/drawing/2014/main" id="{4772F06B-6D37-AFDD-DB1A-CC882E32B1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2160"/>
              <a:ext cx="384" cy="672"/>
              <a:chOff x="1056" y="1104"/>
              <a:chExt cx="864" cy="1968"/>
            </a:xfrm>
          </p:grpSpPr>
          <p:sp>
            <p:nvSpPr>
              <p:cNvPr id="18460" name="Oval 4">
                <a:extLst>
                  <a:ext uri="{FF2B5EF4-FFF2-40B4-BE49-F238E27FC236}">
                    <a16:creationId xmlns:a16="http://schemas.microsoft.com/office/drawing/2014/main" id="{BAC6DD61-99DB-F79B-6C2C-6542F26633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0" y="1104"/>
                <a:ext cx="576" cy="57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61" name="Line 5">
                <a:extLst>
                  <a:ext uri="{FF2B5EF4-FFF2-40B4-BE49-F238E27FC236}">
                    <a16:creationId xmlns:a16="http://schemas.microsoft.com/office/drawing/2014/main" id="{5823BA20-A96F-2053-5853-402469B5CF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1680"/>
                <a:ext cx="0" cy="8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62" name="Line 6">
                <a:extLst>
                  <a:ext uri="{FF2B5EF4-FFF2-40B4-BE49-F238E27FC236}">
                    <a16:creationId xmlns:a16="http://schemas.microsoft.com/office/drawing/2014/main" id="{CFC77091-D2C4-EB18-3933-E35160D8BE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2496"/>
                <a:ext cx="432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63" name="Line 7">
                <a:extLst>
                  <a:ext uri="{FF2B5EF4-FFF2-40B4-BE49-F238E27FC236}">
                    <a16:creationId xmlns:a16="http://schemas.microsoft.com/office/drawing/2014/main" id="{0E6CE78F-B092-F00F-E46D-AAAB839BA4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04" y="2496"/>
                <a:ext cx="384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64" name="Line 8">
                <a:extLst>
                  <a:ext uri="{FF2B5EF4-FFF2-40B4-BE49-F238E27FC236}">
                    <a16:creationId xmlns:a16="http://schemas.microsoft.com/office/drawing/2014/main" id="{6FCB6113-CD54-1AAE-B902-85813F5294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1968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438" name="Oval 15">
              <a:extLst>
                <a:ext uri="{FF2B5EF4-FFF2-40B4-BE49-F238E27FC236}">
                  <a16:creationId xmlns:a16="http://schemas.microsoft.com/office/drawing/2014/main" id="{3521EF14-A191-0974-1F2E-FA27D9575D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2" y="2352"/>
              <a:ext cx="864" cy="38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8439" name="Line 18">
              <a:extLst>
                <a:ext uri="{FF2B5EF4-FFF2-40B4-BE49-F238E27FC236}">
                  <a16:creationId xmlns:a16="http://schemas.microsoft.com/office/drawing/2014/main" id="{F834731D-6621-9AB7-D19F-AC05A20DFD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2544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0" name="Text Box 22">
              <a:extLst>
                <a:ext uri="{FF2B5EF4-FFF2-40B4-BE49-F238E27FC236}">
                  <a16:creationId xmlns:a16="http://schemas.microsoft.com/office/drawing/2014/main" id="{C5A3F494-71E0-60DE-218F-0EB15F486C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2" y="2822"/>
              <a:ext cx="58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Student</a:t>
              </a:r>
            </a:p>
          </p:txBody>
        </p:sp>
        <p:grpSp>
          <p:nvGrpSpPr>
            <p:cNvPr id="18441" name="Group 36">
              <a:extLst>
                <a:ext uri="{FF2B5EF4-FFF2-40B4-BE49-F238E27FC236}">
                  <a16:creationId xmlns:a16="http://schemas.microsoft.com/office/drawing/2014/main" id="{F256AC7B-494F-1312-4980-7DC8682229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2" y="1536"/>
              <a:ext cx="949" cy="895"/>
              <a:chOff x="3230" y="1536"/>
              <a:chExt cx="949" cy="895"/>
            </a:xfrm>
          </p:grpSpPr>
          <p:grpSp>
            <p:nvGrpSpPr>
              <p:cNvPr id="18453" name="Group 9">
                <a:extLst>
                  <a:ext uri="{FF2B5EF4-FFF2-40B4-BE49-F238E27FC236}">
                    <a16:creationId xmlns:a16="http://schemas.microsoft.com/office/drawing/2014/main" id="{A43D2B21-8380-E721-2C80-A9FABE9721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08" y="1536"/>
                <a:ext cx="384" cy="672"/>
                <a:chOff x="1056" y="1104"/>
                <a:chExt cx="864" cy="1968"/>
              </a:xfrm>
            </p:grpSpPr>
            <p:sp>
              <p:nvSpPr>
                <p:cNvPr id="18455" name="Oval 10">
                  <a:extLst>
                    <a:ext uri="{FF2B5EF4-FFF2-40B4-BE49-F238E27FC236}">
                      <a16:creationId xmlns:a16="http://schemas.microsoft.com/office/drawing/2014/main" id="{DBECDCA1-FA53-24FC-C13B-97740EB01D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1104"/>
                  <a:ext cx="576" cy="57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8456" name="Line 11">
                  <a:extLst>
                    <a:ext uri="{FF2B5EF4-FFF2-40B4-BE49-F238E27FC236}">
                      <a16:creationId xmlns:a16="http://schemas.microsoft.com/office/drawing/2014/main" id="{C8A35CE3-42A3-9AA0-2729-07D789C51E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8" y="1680"/>
                  <a:ext cx="0" cy="81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457" name="Line 12">
                  <a:extLst>
                    <a:ext uri="{FF2B5EF4-FFF2-40B4-BE49-F238E27FC236}">
                      <a16:creationId xmlns:a16="http://schemas.microsoft.com/office/drawing/2014/main" id="{2F8F30D6-C589-33DD-A4EE-0FF1648CB9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8" y="2496"/>
                  <a:ext cx="432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458" name="Line 13">
                  <a:extLst>
                    <a:ext uri="{FF2B5EF4-FFF2-40B4-BE49-F238E27FC236}">
                      <a16:creationId xmlns:a16="http://schemas.microsoft.com/office/drawing/2014/main" id="{8387E371-0B0F-ED15-2DF2-B75478A7E2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04" y="2496"/>
                  <a:ext cx="384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459" name="Line 14">
                  <a:extLst>
                    <a:ext uri="{FF2B5EF4-FFF2-40B4-BE49-F238E27FC236}">
                      <a16:creationId xmlns:a16="http://schemas.microsoft.com/office/drawing/2014/main" id="{FE4D2A8D-2223-F112-A17B-CD4D0D49B9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56" y="1968"/>
                  <a:ext cx="81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8454" name="Text Box 23">
                <a:extLst>
                  <a:ext uri="{FF2B5EF4-FFF2-40B4-BE49-F238E27FC236}">
                    <a16:creationId xmlns:a16="http://schemas.microsoft.com/office/drawing/2014/main" id="{C827B149-D4E6-DED3-8783-8B43A9E977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30" y="2198"/>
                <a:ext cx="949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200">
                    <a:latin typeface="Times New Roman" panose="02020603050405020304" pitchFamily="18" charset="0"/>
                  </a:rPr>
                  <a:t>Billing System</a:t>
                </a:r>
              </a:p>
            </p:txBody>
          </p:sp>
        </p:grpSp>
        <p:grpSp>
          <p:nvGrpSpPr>
            <p:cNvPr id="18442" name="Group 33">
              <a:extLst>
                <a:ext uri="{FF2B5EF4-FFF2-40B4-BE49-F238E27FC236}">
                  <a16:creationId xmlns:a16="http://schemas.microsoft.com/office/drawing/2014/main" id="{B22DB02B-09BD-49C0-4845-4E9415680A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7" y="2640"/>
              <a:ext cx="680" cy="943"/>
              <a:chOff x="3313" y="2064"/>
              <a:chExt cx="680" cy="943"/>
            </a:xfrm>
          </p:grpSpPr>
          <p:grpSp>
            <p:nvGrpSpPr>
              <p:cNvPr id="18446" name="Group 25">
                <a:extLst>
                  <a:ext uri="{FF2B5EF4-FFF2-40B4-BE49-F238E27FC236}">
                    <a16:creationId xmlns:a16="http://schemas.microsoft.com/office/drawing/2014/main" id="{A648016C-7C1C-3357-DB42-FA89B3892C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56" y="2064"/>
                <a:ext cx="384" cy="672"/>
                <a:chOff x="1056" y="1104"/>
                <a:chExt cx="864" cy="1968"/>
              </a:xfrm>
            </p:grpSpPr>
            <p:sp>
              <p:nvSpPr>
                <p:cNvPr id="18448" name="Oval 26">
                  <a:extLst>
                    <a:ext uri="{FF2B5EF4-FFF2-40B4-BE49-F238E27FC236}">
                      <a16:creationId xmlns:a16="http://schemas.microsoft.com/office/drawing/2014/main" id="{141597D1-CA50-52D9-7A60-0590AAACF5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1104"/>
                  <a:ext cx="576" cy="57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8449" name="Line 27">
                  <a:extLst>
                    <a:ext uri="{FF2B5EF4-FFF2-40B4-BE49-F238E27FC236}">
                      <a16:creationId xmlns:a16="http://schemas.microsoft.com/office/drawing/2014/main" id="{2B2915C7-B5B2-9C70-603B-55C75320B4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8" y="1680"/>
                  <a:ext cx="0" cy="81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450" name="Line 28">
                  <a:extLst>
                    <a:ext uri="{FF2B5EF4-FFF2-40B4-BE49-F238E27FC236}">
                      <a16:creationId xmlns:a16="http://schemas.microsoft.com/office/drawing/2014/main" id="{B5BE3965-4AB2-3C2B-F846-F4D189FDD8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8" y="2496"/>
                  <a:ext cx="432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451" name="Line 29">
                  <a:extLst>
                    <a:ext uri="{FF2B5EF4-FFF2-40B4-BE49-F238E27FC236}">
                      <a16:creationId xmlns:a16="http://schemas.microsoft.com/office/drawing/2014/main" id="{ECA46693-3875-614D-0F83-E006A49DEA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04" y="2496"/>
                  <a:ext cx="384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452" name="Line 30">
                  <a:extLst>
                    <a:ext uri="{FF2B5EF4-FFF2-40B4-BE49-F238E27FC236}">
                      <a16:creationId xmlns:a16="http://schemas.microsoft.com/office/drawing/2014/main" id="{8682E214-C11B-B5A4-6D76-3CE9D6EE83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56" y="1968"/>
                  <a:ext cx="81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8447" name="Text Box 32">
                <a:extLst>
                  <a:ext uri="{FF2B5EF4-FFF2-40B4-BE49-F238E27FC236}">
                    <a16:creationId xmlns:a16="http://schemas.microsoft.com/office/drawing/2014/main" id="{42E11803-CBA4-E7F1-4A08-23A5A54E66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13" y="2774"/>
                <a:ext cx="680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200">
                    <a:latin typeface="Times New Roman" panose="02020603050405020304" pitchFamily="18" charset="0"/>
                  </a:rPr>
                  <a:t>Registrar</a:t>
                </a:r>
              </a:p>
            </p:txBody>
          </p:sp>
        </p:grpSp>
        <p:sp>
          <p:nvSpPr>
            <p:cNvPr id="18443" name="Line 39">
              <a:extLst>
                <a:ext uri="{FF2B5EF4-FFF2-40B4-BE49-F238E27FC236}">
                  <a16:creationId xmlns:a16="http://schemas.microsoft.com/office/drawing/2014/main" id="{06808EAD-79BA-A0D2-2FA9-D2C3FB726E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4" y="1968"/>
              <a:ext cx="1344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4" name="Line 40">
              <a:extLst>
                <a:ext uri="{FF2B5EF4-FFF2-40B4-BE49-F238E27FC236}">
                  <a16:creationId xmlns:a16="http://schemas.microsoft.com/office/drawing/2014/main" id="{AFE21B5F-51AA-FBEB-0360-2A41388E0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544"/>
              <a:ext cx="1344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198" name="Text Box 41">
              <a:extLst>
                <a:ext uri="{FF2B5EF4-FFF2-40B4-BE49-F238E27FC236}">
                  <a16:creationId xmlns:a16="http://schemas.microsoft.com/office/drawing/2014/main" id="{C1B2D86C-5438-613C-F385-2588D685A2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6" y="2802"/>
              <a:ext cx="1344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  <a:defRPr/>
              </a:pPr>
              <a:r>
                <a:rPr lang="en-US" altLang="en-US" sz="1200"/>
                <a:t>Register for Courses</a:t>
              </a:r>
              <a:endParaRPr lang="en-US" altLang="en-US" sz="1350"/>
            </a:p>
          </p:txBody>
        </p:sp>
      </p:grpSp>
      <p:sp>
        <p:nvSpPr>
          <p:cNvPr id="18436" name="Text Box 43">
            <a:extLst>
              <a:ext uri="{FF2B5EF4-FFF2-40B4-BE49-F238E27FC236}">
                <a16:creationId xmlns:a16="http://schemas.microsoft.com/office/drawing/2014/main" id="{DC9878D3-01C7-164C-E38B-278721E43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3050" y="1812925"/>
            <a:ext cx="6265863" cy="785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Here we have a </a:t>
            </a:r>
            <a:r>
              <a:rPr lang="en-US" altLang="en-US" sz="1800" i="1">
                <a:latin typeface="Times New Roman" panose="02020603050405020304" pitchFamily="18" charset="0"/>
              </a:rPr>
              <a:t>Student</a:t>
            </a:r>
            <a:r>
              <a:rPr lang="en-US" altLang="en-US" sz="1800">
                <a:latin typeface="Times New Roman" panose="02020603050405020304" pitchFamily="18" charset="0"/>
              </a:rPr>
              <a:t> interacting with the </a:t>
            </a:r>
            <a:r>
              <a:rPr lang="en-US" altLang="en-US" sz="1800" i="1">
                <a:latin typeface="Times New Roman" panose="02020603050405020304" pitchFamily="18" charset="0"/>
              </a:rPr>
              <a:t>Registrar</a:t>
            </a:r>
            <a:r>
              <a:rPr lang="en-US" altLang="en-US" sz="1800">
                <a:latin typeface="Times New Roman" panose="02020603050405020304" pitchFamily="18" charset="0"/>
              </a:rPr>
              <a:t> and the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</a:rPr>
              <a:t>Billing System</a:t>
            </a:r>
            <a:r>
              <a:rPr lang="en-US" altLang="en-US" sz="1800">
                <a:latin typeface="Times New Roman" panose="02020603050405020304" pitchFamily="18" charset="0"/>
              </a:rPr>
              <a:t> via a “</a:t>
            </a:r>
            <a:r>
              <a:rPr lang="en-US" altLang="en-US" sz="1800" i="1">
                <a:latin typeface="Times New Roman" panose="02020603050405020304" pitchFamily="18" charset="0"/>
              </a:rPr>
              <a:t>Register for Courses</a:t>
            </a:r>
            <a:r>
              <a:rPr lang="en-US" altLang="en-US" sz="1800">
                <a:latin typeface="Times New Roman" panose="02020603050405020304" pitchFamily="18" charset="0"/>
              </a:rPr>
              <a:t>” use case.</a:t>
            </a: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9F2C483-2496-7A4D-0E44-DF2D79F776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</a:t>
            </a:r>
            <a:r>
              <a:rPr lang="en-US" altLang="en-US" sz="2400">
                <a:latin typeface="Courier" charset="0"/>
              </a:rPr>
              <a:t>&lt;&lt;extends&gt;&gt; </a:t>
            </a:r>
            <a:r>
              <a:rPr lang="en-US" altLang="en-US"/>
              <a:t>Relationship</a:t>
            </a:r>
          </a:p>
        </p:txBody>
      </p:sp>
      <p:sp>
        <p:nvSpPr>
          <p:cNvPr id="19459" name="Rectangle 4">
            <a:extLst>
              <a:ext uri="{FF2B5EF4-FFF2-40B4-BE49-F238E27FC236}">
                <a16:creationId xmlns:a16="http://schemas.microsoft.com/office/drawing/2014/main" id="{BEE4EB86-61DE-846C-B1BC-32213F29316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119688" y="1384300"/>
            <a:ext cx="4048125" cy="4800600"/>
          </a:xfrm>
        </p:spPr>
        <p:txBody>
          <a:bodyPr/>
          <a:lstStyle/>
          <a:p>
            <a:r>
              <a:rPr lang="en-US" altLang="en-US" sz="1400">
                <a:latin typeface="Courier" charset="0"/>
              </a:rPr>
              <a:t>&lt;&lt;extends&gt;&gt;</a:t>
            </a:r>
            <a:r>
              <a:rPr lang="en-US" altLang="en-US" sz="1600"/>
              <a:t> relationships represent exceptional or seldom invoked cases.</a:t>
            </a:r>
          </a:p>
          <a:p>
            <a:r>
              <a:rPr lang="en-US" altLang="en-US" sz="1600"/>
              <a:t>The exceptional event flows are factored out of the main event flow for clarity.</a:t>
            </a:r>
          </a:p>
          <a:p>
            <a:r>
              <a:rPr lang="en-US" altLang="en-US" sz="1600"/>
              <a:t>Use cases representing exceptional flows can extend more than one use case.</a:t>
            </a:r>
          </a:p>
          <a:p>
            <a:r>
              <a:rPr lang="en-US" altLang="en-US" sz="1600"/>
              <a:t>The direction of a </a:t>
            </a:r>
            <a:r>
              <a:rPr lang="en-US" altLang="en-US" sz="1400">
                <a:latin typeface="Courier" charset="0"/>
              </a:rPr>
              <a:t>&lt;&lt;extends&gt;&gt;</a:t>
            </a:r>
            <a:r>
              <a:rPr lang="en-US" altLang="en-US" sz="1600"/>
              <a:t> relationship is to the extended use case</a:t>
            </a:r>
          </a:p>
        </p:txBody>
      </p:sp>
      <p:grpSp>
        <p:nvGrpSpPr>
          <p:cNvPr id="19460" name="Group 47">
            <a:extLst>
              <a:ext uri="{FF2B5EF4-FFF2-40B4-BE49-F238E27FC236}">
                <a16:creationId xmlns:a16="http://schemas.microsoft.com/office/drawing/2014/main" id="{FE4520F5-3C99-9DBB-C298-D09B436990C0}"/>
              </a:ext>
            </a:extLst>
          </p:cNvPr>
          <p:cNvGrpSpPr>
            <a:grpSpLocks/>
          </p:cNvGrpSpPr>
          <p:nvPr/>
        </p:nvGrpSpPr>
        <p:grpSpPr bwMode="auto">
          <a:xfrm>
            <a:off x="2066925" y="1455738"/>
            <a:ext cx="1701800" cy="2225675"/>
            <a:chOff x="945" y="801"/>
            <a:chExt cx="1072" cy="1486"/>
          </a:xfrm>
        </p:grpSpPr>
        <p:grpSp>
          <p:nvGrpSpPr>
            <p:cNvPr id="19485" name="Group 18">
              <a:extLst>
                <a:ext uri="{FF2B5EF4-FFF2-40B4-BE49-F238E27FC236}">
                  <a16:creationId xmlns:a16="http://schemas.microsoft.com/office/drawing/2014/main" id="{57F565FF-8235-A069-FAE9-622CF2FA4D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0" y="801"/>
              <a:ext cx="735" cy="695"/>
              <a:chOff x="1616" y="801"/>
              <a:chExt cx="735" cy="695"/>
            </a:xfrm>
          </p:grpSpPr>
          <p:grpSp>
            <p:nvGrpSpPr>
              <p:cNvPr id="19490" name="Group 6">
                <a:extLst>
                  <a:ext uri="{FF2B5EF4-FFF2-40B4-BE49-F238E27FC236}">
                    <a16:creationId xmlns:a16="http://schemas.microsoft.com/office/drawing/2014/main" id="{179D056E-16F7-EA27-AD17-3A1E6E1B78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63" y="801"/>
                <a:ext cx="280" cy="493"/>
                <a:chOff x="659" y="1833"/>
                <a:chExt cx="299" cy="526"/>
              </a:xfrm>
            </p:grpSpPr>
            <p:sp>
              <p:nvSpPr>
                <p:cNvPr id="19492" name="Freeform 7">
                  <a:extLst>
                    <a:ext uri="{FF2B5EF4-FFF2-40B4-BE49-F238E27FC236}">
                      <a16:creationId xmlns:a16="http://schemas.microsoft.com/office/drawing/2014/main" id="{2CE5BF61-F7F4-9DDD-587C-8F0464F08B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9" y="1941"/>
                  <a:ext cx="143" cy="418"/>
                </a:xfrm>
                <a:custGeom>
                  <a:avLst/>
                  <a:gdLst>
                    <a:gd name="T0" fmla="*/ 143 w 143"/>
                    <a:gd name="T1" fmla="*/ 0 h 418"/>
                    <a:gd name="T2" fmla="*/ 143 w 143"/>
                    <a:gd name="T3" fmla="*/ 263 h 418"/>
                    <a:gd name="T4" fmla="*/ 0 w 143"/>
                    <a:gd name="T5" fmla="*/ 418 h 4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43" h="418">
                      <a:moveTo>
                        <a:pt x="143" y="0"/>
                      </a:moveTo>
                      <a:lnTo>
                        <a:pt x="143" y="263"/>
                      </a:lnTo>
                      <a:lnTo>
                        <a:pt x="0" y="418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93" name="Line 8">
                  <a:extLst>
                    <a:ext uri="{FF2B5EF4-FFF2-40B4-BE49-F238E27FC236}">
                      <a16:creationId xmlns:a16="http://schemas.microsoft.com/office/drawing/2014/main" id="{10868D0D-50A5-F5E3-5E69-553C3872AC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02" y="2204"/>
                  <a:ext cx="156" cy="155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94" name="Line 9">
                  <a:extLst>
                    <a:ext uri="{FF2B5EF4-FFF2-40B4-BE49-F238E27FC236}">
                      <a16:creationId xmlns:a16="http://schemas.microsoft.com/office/drawing/2014/main" id="{BEAF40B5-09F1-DEFC-BCAF-8ADDE721A9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59" y="2060"/>
                  <a:ext cx="299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95" name="Oval 10">
                  <a:extLst>
                    <a:ext uri="{FF2B5EF4-FFF2-40B4-BE49-F238E27FC236}">
                      <a16:creationId xmlns:a16="http://schemas.microsoft.com/office/drawing/2014/main" id="{9AB3B564-9F92-D9A7-7183-08D4C09060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1" y="1833"/>
                  <a:ext cx="155" cy="156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en-US" sz="2400">
                    <a:latin typeface="Times" panose="02020603050405020304" pitchFamily="18" charset="0"/>
                    <a:ea typeface="MS PGothic" panose="020B0600070205080204" pitchFamily="34" charset="-128"/>
                  </a:endParaRPr>
                </a:p>
              </p:txBody>
            </p:sp>
          </p:grpSp>
          <p:sp>
            <p:nvSpPr>
              <p:cNvPr id="19491" name="Rectangle 11">
                <a:extLst>
                  <a:ext uri="{FF2B5EF4-FFF2-40B4-BE49-F238E27FC236}">
                    <a16:creationId xmlns:a16="http://schemas.microsoft.com/office/drawing/2014/main" id="{9B2ADFDC-1723-8F1C-3F3D-77EF77817E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1322"/>
                <a:ext cx="735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solidFill>
                      <a:srgbClr val="000000"/>
                    </a:solidFill>
                    <a:latin typeface="Courier" charset="0"/>
                    <a:ea typeface="MS PGothic" panose="020B0600070205080204" pitchFamily="34" charset="-128"/>
                  </a:rPr>
                  <a:t>Passenger</a:t>
                </a:r>
                <a:endParaRPr lang="en-US" altLang="en-US" sz="2400" b="0">
                  <a:latin typeface="Helvetica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grpSp>
          <p:nvGrpSpPr>
            <p:cNvPr id="19486" name="Group 17">
              <a:extLst>
                <a:ext uri="{FF2B5EF4-FFF2-40B4-BE49-F238E27FC236}">
                  <a16:creationId xmlns:a16="http://schemas.microsoft.com/office/drawing/2014/main" id="{B103CF40-9300-9E14-7AC2-A8D4E80474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5" y="1795"/>
              <a:ext cx="1072" cy="492"/>
              <a:chOff x="1401" y="1795"/>
              <a:chExt cx="1072" cy="492"/>
            </a:xfrm>
          </p:grpSpPr>
          <p:sp>
            <p:nvSpPr>
              <p:cNvPr id="19488" name="Oval 13">
                <a:extLst>
                  <a:ext uri="{FF2B5EF4-FFF2-40B4-BE49-F238E27FC236}">
                    <a16:creationId xmlns:a16="http://schemas.microsoft.com/office/drawing/2014/main" id="{BD965B8F-B03B-7369-931E-C3B929EB26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0" y="1795"/>
                <a:ext cx="706" cy="301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" panose="02020603050405020304" pitchFamily="18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489" name="Rectangle 14">
                <a:extLst>
                  <a:ext uri="{FF2B5EF4-FFF2-40B4-BE49-F238E27FC236}">
                    <a16:creationId xmlns:a16="http://schemas.microsoft.com/office/drawing/2014/main" id="{ADBD9467-8E02-95E4-19FF-4320F1066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1" y="2113"/>
                <a:ext cx="1072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solidFill>
                      <a:srgbClr val="000000"/>
                    </a:solidFill>
                    <a:latin typeface="Courier" charset="0"/>
                    <a:ea typeface="MS PGothic" panose="020B0600070205080204" pitchFamily="34" charset="-128"/>
                  </a:rPr>
                  <a:t>PurchaseTicket</a:t>
                </a:r>
                <a:endParaRPr lang="en-US" altLang="en-US" sz="2400" b="0">
                  <a:latin typeface="Helvetica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19487" name="Line 15">
              <a:extLst>
                <a:ext uri="{FF2B5EF4-FFF2-40B4-BE49-F238E27FC236}">
                  <a16:creationId xmlns:a16="http://schemas.microsoft.com/office/drawing/2014/main" id="{2DEFDB67-7E64-F6BE-D2E7-118A20EB21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46" y="1543"/>
              <a:ext cx="1" cy="2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9380" name="Group 52">
            <a:extLst>
              <a:ext uri="{FF2B5EF4-FFF2-40B4-BE49-F238E27FC236}">
                <a16:creationId xmlns:a16="http://schemas.microsoft.com/office/drawing/2014/main" id="{8D428BB0-B272-08B5-837E-C35C93431A4E}"/>
              </a:ext>
            </a:extLst>
          </p:cNvPr>
          <p:cNvGrpSpPr>
            <a:grpSpLocks/>
          </p:cNvGrpSpPr>
          <p:nvPr/>
        </p:nvGrpSpPr>
        <p:grpSpPr bwMode="auto">
          <a:xfrm>
            <a:off x="3662363" y="3732213"/>
            <a:ext cx="3481387" cy="1847850"/>
            <a:chOff x="2307" y="2351"/>
            <a:chExt cx="2193" cy="1164"/>
          </a:xfrm>
        </p:grpSpPr>
        <p:grpSp>
          <p:nvGrpSpPr>
            <p:cNvPr id="19480" name="Group 37">
              <a:extLst>
                <a:ext uri="{FF2B5EF4-FFF2-40B4-BE49-F238E27FC236}">
                  <a16:creationId xmlns:a16="http://schemas.microsoft.com/office/drawing/2014/main" id="{22C044B7-F01C-1480-BFB6-7A719AE061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4" y="3023"/>
              <a:ext cx="706" cy="492"/>
              <a:chOff x="1762" y="2595"/>
              <a:chExt cx="706" cy="492"/>
            </a:xfrm>
          </p:grpSpPr>
          <p:sp>
            <p:nvSpPr>
              <p:cNvPr id="19483" name="Oval 33">
                <a:extLst>
                  <a:ext uri="{FF2B5EF4-FFF2-40B4-BE49-F238E27FC236}">
                    <a16:creationId xmlns:a16="http://schemas.microsoft.com/office/drawing/2014/main" id="{84A31C1A-71B3-F009-12F7-55A7A4FB52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2" y="2595"/>
                <a:ext cx="706" cy="301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" panose="02020603050405020304" pitchFamily="18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484" name="Rectangle 34">
                <a:extLst>
                  <a:ext uri="{FF2B5EF4-FFF2-40B4-BE49-F238E27FC236}">
                    <a16:creationId xmlns:a16="http://schemas.microsoft.com/office/drawing/2014/main" id="{FF30C1B6-0615-501F-6D46-2DCB46E56E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3" y="2913"/>
                <a:ext cx="587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solidFill>
                      <a:srgbClr val="000000"/>
                    </a:solidFill>
                    <a:latin typeface="Courier" charset="0"/>
                    <a:ea typeface="MS PGothic" panose="020B0600070205080204" pitchFamily="34" charset="-128"/>
                  </a:rPr>
                  <a:t>TimeOut</a:t>
                </a:r>
                <a:endParaRPr lang="en-US" altLang="en-US" sz="2400" b="0">
                  <a:latin typeface="Helvetica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19481" name="Line 43">
              <a:extLst>
                <a:ext uri="{FF2B5EF4-FFF2-40B4-BE49-F238E27FC236}">
                  <a16:creationId xmlns:a16="http://schemas.microsoft.com/office/drawing/2014/main" id="{EC4E8ADF-30B5-FA88-7E51-D6D9B17BFF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7" y="2351"/>
              <a:ext cx="1423" cy="75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2" name="Text Box 44">
              <a:extLst>
                <a:ext uri="{FF2B5EF4-FFF2-40B4-BE49-F238E27FC236}">
                  <a16:creationId xmlns:a16="http://schemas.microsoft.com/office/drawing/2014/main" id="{9967E61E-535E-A96A-E3A4-38F128D3AE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0" y="3060"/>
              <a:ext cx="907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Courier" charset="0"/>
                  <a:ea typeface="MS PGothic" panose="020B0600070205080204" pitchFamily="34" charset="-128"/>
                </a:rPr>
                <a:t>&lt;&lt;extends&gt;&gt;</a:t>
              </a:r>
            </a:p>
          </p:txBody>
        </p:sp>
      </p:grpSp>
      <p:grpSp>
        <p:nvGrpSpPr>
          <p:cNvPr id="99382" name="Group 54">
            <a:extLst>
              <a:ext uri="{FF2B5EF4-FFF2-40B4-BE49-F238E27FC236}">
                <a16:creationId xmlns:a16="http://schemas.microsoft.com/office/drawing/2014/main" id="{A27FE7D7-509B-78F8-D34E-3DA32780CCAD}"/>
              </a:ext>
            </a:extLst>
          </p:cNvPr>
          <p:cNvGrpSpPr>
            <a:grpSpLocks/>
          </p:cNvGrpSpPr>
          <p:nvPr/>
        </p:nvGrpSpPr>
        <p:grpSpPr bwMode="auto">
          <a:xfrm>
            <a:off x="3013075" y="3795713"/>
            <a:ext cx="2316163" cy="2692400"/>
            <a:chOff x="1898" y="2391"/>
            <a:chExt cx="1459" cy="1696"/>
          </a:xfrm>
        </p:grpSpPr>
        <p:grpSp>
          <p:nvGrpSpPr>
            <p:cNvPr id="19475" name="Group 53">
              <a:extLst>
                <a:ext uri="{FF2B5EF4-FFF2-40B4-BE49-F238E27FC236}">
                  <a16:creationId xmlns:a16="http://schemas.microsoft.com/office/drawing/2014/main" id="{B5346C85-1689-C40A-9578-E8641403E7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22" y="3595"/>
              <a:ext cx="735" cy="492"/>
              <a:chOff x="2550" y="3595"/>
              <a:chExt cx="735" cy="492"/>
            </a:xfrm>
          </p:grpSpPr>
          <p:sp>
            <p:nvSpPr>
              <p:cNvPr id="19478" name="Oval 27">
                <a:extLst>
                  <a:ext uri="{FF2B5EF4-FFF2-40B4-BE49-F238E27FC236}">
                    <a16:creationId xmlns:a16="http://schemas.microsoft.com/office/drawing/2014/main" id="{3B074144-9F5E-7E90-C56F-5C01525C66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0" y="3595"/>
                <a:ext cx="706" cy="301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" panose="02020603050405020304" pitchFamily="18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479" name="Rectangle 28">
                <a:extLst>
                  <a:ext uri="{FF2B5EF4-FFF2-40B4-BE49-F238E27FC236}">
                    <a16:creationId xmlns:a16="http://schemas.microsoft.com/office/drawing/2014/main" id="{F8853119-69FD-DD3A-E771-15D5C2EBAE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8" y="3913"/>
                <a:ext cx="727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solidFill>
                      <a:srgbClr val="000000"/>
                    </a:solidFill>
                    <a:latin typeface="Courier" charset="0"/>
                    <a:ea typeface="MS PGothic" panose="020B0600070205080204" pitchFamily="34" charset="-128"/>
                  </a:rPr>
                  <a:t>NoChange</a:t>
                </a:r>
                <a:endParaRPr lang="en-US" altLang="en-US" sz="2400" b="0">
                  <a:latin typeface="Helvetica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19476" name="Line 42">
              <a:extLst>
                <a:ext uri="{FF2B5EF4-FFF2-40B4-BE49-F238E27FC236}">
                  <a16:creationId xmlns:a16="http://schemas.microsoft.com/office/drawing/2014/main" id="{BC3793E9-8ED3-13BA-D32D-9C79B5B1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1" y="2391"/>
              <a:ext cx="799" cy="113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7" name="Text Box 45">
              <a:extLst>
                <a:ext uri="{FF2B5EF4-FFF2-40B4-BE49-F238E27FC236}">
                  <a16:creationId xmlns:a16="http://schemas.microsoft.com/office/drawing/2014/main" id="{C3F4F4FB-3574-0717-9A8C-25E21BE4BF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8" y="3340"/>
              <a:ext cx="907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Courier" charset="0"/>
                  <a:ea typeface="MS PGothic" panose="020B0600070205080204" pitchFamily="34" charset="-128"/>
                </a:rPr>
                <a:t>&lt;&lt;extends&gt;&gt;</a:t>
              </a:r>
            </a:p>
          </p:txBody>
        </p:sp>
      </p:grpSp>
      <p:grpSp>
        <p:nvGrpSpPr>
          <p:cNvPr id="99377" name="Group 49">
            <a:extLst>
              <a:ext uri="{FF2B5EF4-FFF2-40B4-BE49-F238E27FC236}">
                <a16:creationId xmlns:a16="http://schemas.microsoft.com/office/drawing/2014/main" id="{EC454AA9-B60D-9348-9323-AAA636BA7958}"/>
              </a:ext>
            </a:extLst>
          </p:cNvPr>
          <p:cNvGrpSpPr>
            <a:grpSpLocks/>
          </p:cNvGrpSpPr>
          <p:nvPr/>
        </p:nvGrpSpPr>
        <p:grpSpPr bwMode="auto">
          <a:xfrm>
            <a:off x="222250" y="3757613"/>
            <a:ext cx="2398713" cy="1822450"/>
            <a:chOff x="140" y="2367"/>
            <a:chExt cx="1511" cy="1148"/>
          </a:xfrm>
        </p:grpSpPr>
        <p:grpSp>
          <p:nvGrpSpPr>
            <p:cNvPr id="19470" name="Group 35">
              <a:extLst>
                <a:ext uri="{FF2B5EF4-FFF2-40B4-BE49-F238E27FC236}">
                  <a16:creationId xmlns:a16="http://schemas.microsoft.com/office/drawing/2014/main" id="{5DD97696-0126-1C9C-4EF7-A034D2EC25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" y="3023"/>
              <a:ext cx="816" cy="492"/>
              <a:chOff x="518" y="2443"/>
              <a:chExt cx="816" cy="492"/>
            </a:xfrm>
          </p:grpSpPr>
          <p:sp>
            <p:nvSpPr>
              <p:cNvPr id="19473" name="Oval 21">
                <a:extLst>
                  <a:ext uri="{FF2B5EF4-FFF2-40B4-BE49-F238E27FC236}">
                    <a16:creationId xmlns:a16="http://schemas.microsoft.com/office/drawing/2014/main" id="{4EB7315C-29CF-3AB9-CB34-8EA49A593D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" y="2443"/>
                <a:ext cx="706" cy="301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" panose="02020603050405020304" pitchFamily="18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474" name="Rectangle 22">
                <a:extLst>
                  <a:ext uri="{FF2B5EF4-FFF2-40B4-BE49-F238E27FC236}">
                    <a16:creationId xmlns:a16="http://schemas.microsoft.com/office/drawing/2014/main" id="{D4EDE4D8-2A13-E451-51CF-0DCC57944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6" y="2761"/>
                <a:ext cx="808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solidFill>
                      <a:srgbClr val="000000"/>
                    </a:solidFill>
                    <a:latin typeface="Courier" charset="0"/>
                    <a:ea typeface="MS PGothic" panose="020B0600070205080204" pitchFamily="34" charset="-128"/>
                  </a:rPr>
                  <a:t>OutOfOrder</a:t>
                </a:r>
                <a:endParaRPr lang="en-US" altLang="en-US" sz="2400" b="0">
                  <a:latin typeface="Helvetica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19471" name="Line 40">
              <a:extLst>
                <a:ext uri="{FF2B5EF4-FFF2-40B4-BE49-F238E27FC236}">
                  <a16:creationId xmlns:a16="http://schemas.microsoft.com/office/drawing/2014/main" id="{EC1C948F-D12F-D992-9DC5-2E1E78092B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0" y="2367"/>
              <a:ext cx="921" cy="61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2" name="Text Box 46">
              <a:extLst>
                <a:ext uri="{FF2B5EF4-FFF2-40B4-BE49-F238E27FC236}">
                  <a16:creationId xmlns:a16="http://schemas.microsoft.com/office/drawing/2014/main" id="{1F439A08-FC2E-8A51-1EF9-95AB5D4C42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" y="2500"/>
              <a:ext cx="907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Courier" charset="0"/>
                  <a:ea typeface="MS PGothic" panose="020B0600070205080204" pitchFamily="34" charset="-128"/>
                </a:rPr>
                <a:t>&lt;&lt;extends&gt;&gt;</a:t>
              </a:r>
            </a:p>
          </p:txBody>
        </p:sp>
      </p:grpSp>
      <p:grpSp>
        <p:nvGrpSpPr>
          <p:cNvPr id="99378" name="Group 50">
            <a:extLst>
              <a:ext uri="{FF2B5EF4-FFF2-40B4-BE49-F238E27FC236}">
                <a16:creationId xmlns:a16="http://schemas.microsoft.com/office/drawing/2014/main" id="{5356297A-6FDB-D000-A667-D4512E838733}"/>
              </a:ext>
            </a:extLst>
          </p:cNvPr>
          <p:cNvGrpSpPr>
            <a:grpSpLocks/>
          </p:cNvGrpSpPr>
          <p:nvPr/>
        </p:nvGrpSpPr>
        <p:grpSpPr bwMode="auto">
          <a:xfrm>
            <a:off x="1420813" y="3783013"/>
            <a:ext cx="1779587" cy="2705100"/>
            <a:chOff x="896" y="2383"/>
            <a:chExt cx="1120" cy="1704"/>
          </a:xfrm>
        </p:grpSpPr>
        <p:grpSp>
          <p:nvGrpSpPr>
            <p:cNvPr id="19465" name="Group 38">
              <a:extLst>
                <a:ext uri="{FF2B5EF4-FFF2-40B4-BE49-F238E27FC236}">
                  <a16:creationId xmlns:a16="http://schemas.microsoft.com/office/drawing/2014/main" id="{96BC7B8C-008A-83C0-4B95-57D175C2DF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10" y="3595"/>
              <a:ext cx="706" cy="492"/>
              <a:chOff x="724" y="3067"/>
              <a:chExt cx="706" cy="492"/>
            </a:xfrm>
          </p:grpSpPr>
          <p:sp>
            <p:nvSpPr>
              <p:cNvPr id="19468" name="Oval 24">
                <a:extLst>
                  <a:ext uri="{FF2B5EF4-FFF2-40B4-BE49-F238E27FC236}">
                    <a16:creationId xmlns:a16="http://schemas.microsoft.com/office/drawing/2014/main" id="{5E8DE587-C313-0CE5-295E-BB921DD8F0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4" y="3067"/>
                <a:ext cx="706" cy="301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Times" panose="02020603050405020304" pitchFamily="18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469" name="Rectangle 25">
                <a:extLst>
                  <a:ext uri="{FF2B5EF4-FFF2-40B4-BE49-F238E27FC236}">
                    <a16:creationId xmlns:a16="http://schemas.microsoft.com/office/drawing/2014/main" id="{C72A4A87-72A9-0D17-42DE-99866168A4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6" y="3385"/>
                <a:ext cx="47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solidFill>
                      <a:srgbClr val="000000"/>
                    </a:solidFill>
                    <a:latin typeface="Courier" charset="0"/>
                    <a:ea typeface="MS PGothic" panose="020B0600070205080204" pitchFamily="34" charset="-128"/>
                  </a:rPr>
                  <a:t>Cancel</a:t>
                </a:r>
                <a:endParaRPr lang="en-US" altLang="en-US" sz="2400" b="0">
                  <a:latin typeface="Helvetica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19466" name="Line 41">
              <a:extLst>
                <a:ext uri="{FF2B5EF4-FFF2-40B4-BE49-F238E27FC236}">
                  <a16:creationId xmlns:a16="http://schemas.microsoft.com/office/drawing/2014/main" id="{9C9E4FAE-6DCA-5E46-1019-9F498037C5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54" y="2383"/>
              <a:ext cx="89" cy="11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7" name="Text Box 48">
              <a:extLst>
                <a:ext uri="{FF2B5EF4-FFF2-40B4-BE49-F238E27FC236}">
                  <a16:creationId xmlns:a16="http://schemas.microsoft.com/office/drawing/2014/main" id="{4B1A57EE-445D-42CF-707E-FA03C9FA47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6" y="2901"/>
              <a:ext cx="907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Courier" charset="0"/>
                  <a:ea typeface="MS PGothic" panose="020B0600070205080204" pitchFamily="34" charset="-128"/>
                </a:rPr>
                <a:t>&lt;&lt;extends&gt;&gt;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E184D9EA-DCFB-FB97-B4B4-7EB7DDBA6F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</a:t>
            </a:r>
            <a:r>
              <a:rPr lang="en-US" altLang="en-US" sz="2400">
                <a:latin typeface="Courier" charset="0"/>
              </a:rPr>
              <a:t>&lt;&lt;includes&gt;&gt; </a:t>
            </a:r>
            <a:r>
              <a:rPr lang="en-US" altLang="en-US"/>
              <a:t>Relationship</a:t>
            </a:r>
          </a:p>
        </p:txBody>
      </p:sp>
      <p:sp>
        <p:nvSpPr>
          <p:cNvPr id="20483" name="Rectangle 4">
            <a:extLst>
              <a:ext uri="{FF2B5EF4-FFF2-40B4-BE49-F238E27FC236}">
                <a16:creationId xmlns:a16="http://schemas.microsoft.com/office/drawing/2014/main" id="{0303BEB5-5645-5A93-1D7D-89EF5375C8A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694363" y="1400175"/>
            <a:ext cx="3427412" cy="5076825"/>
          </a:xfrm>
        </p:spPr>
        <p:txBody>
          <a:bodyPr/>
          <a:lstStyle/>
          <a:p>
            <a:r>
              <a:rPr lang="en-US" altLang="en-US" sz="1600">
                <a:latin typeface="Courier" charset="0"/>
              </a:rPr>
              <a:t>&lt;&lt;includes&gt;&gt;</a:t>
            </a:r>
            <a:r>
              <a:rPr lang="en-US" altLang="en-US" sz="1800"/>
              <a:t> relationship represents behavior that is factored out of the use case.</a:t>
            </a:r>
          </a:p>
          <a:p>
            <a:r>
              <a:rPr lang="en-US" altLang="en-US" sz="1600">
                <a:latin typeface="Courier" charset="0"/>
              </a:rPr>
              <a:t>&lt;&lt;includes&gt;&gt;</a:t>
            </a:r>
            <a:r>
              <a:rPr lang="en-US" altLang="en-US" sz="1800"/>
              <a:t> behavior is factored out for reuse, not because it is an exception.</a:t>
            </a:r>
          </a:p>
          <a:p>
            <a:r>
              <a:rPr lang="en-US" altLang="en-US" sz="1800"/>
              <a:t>The direction of a </a:t>
            </a:r>
            <a:r>
              <a:rPr lang="en-US" altLang="en-US" sz="1600">
                <a:latin typeface="Courier" charset="0"/>
              </a:rPr>
              <a:t>&lt;&lt;includes&gt;&gt;</a:t>
            </a:r>
            <a:r>
              <a:rPr lang="en-US" altLang="en-US" sz="1800"/>
              <a:t> relationship is to the using use case (unlike </a:t>
            </a:r>
            <a:r>
              <a:rPr lang="en-US" altLang="en-US" sz="1800">
                <a:latin typeface="Courier" charset="0"/>
              </a:rPr>
              <a:t>&lt;&lt;extends&gt;&gt;</a:t>
            </a:r>
            <a:r>
              <a:rPr lang="en-US" altLang="en-US" sz="1800"/>
              <a:t> relationships).</a:t>
            </a:r>
          </a:p>
        </p:txBody>
      </p:sp>
      <p:grpSp>
        <p:nvGrpSpPr>
          <p:cNvPr id="20484" name="Group 6">
            <a:extLst>
              <a:ext uri="{FF2B5EF4-FFF2-40B4-BE49-F238E27FC236}">
                <a16:creationId xmlns:a16="http://schemas.microsoft.com/office/drawing/2014/main" id="{DA7EF8E5-A5AB-6BD0-B0A3-BB49FCD959E2}"/>
              </a:ext>
            </a:extLst>
          </p:cNvPr>
          <p:cNvGrpSpPr>
            <a:grpSpLocks/>
          </p:cNvGrpSpPr>
          <p:nvPr/>
        </p:nvGrpSpPr>
        <p:grpSpPr bwMode="auto">
          <a:xfrm>
            <a:off x="885825" y="1454150"/>
            <a:ext cx="1384300" cy="1047750"/>
            <a:chOff x="1616" y="801"/>
            <a:chExt cx="872" cy="738"/>
          </a:xfrm>
        </p:grpSpPr>
        <p:grpSp>
          <p:nvGrpSpPr>
            <p:cNvPr id="20514" name="Group 7">
              <a:extLst>
                <a:ext uri="{FF2B5EF4-FFF2-40B4-BE49-F238E27FC236}">
                  <a16:creationId xmlns:a16="http://schemas.microsoft.com/office/drawing/2014/main" id="{6B865950-DC9F-5CA5-063E-F53DFBA09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3" y="801"/>
              <a:ext cx="280" cy="493"/>
              <a:chOff x="659" y="1833"/>
              <a:chExt cx="299" cy="526"/>
            </a:xfrm>
          </p:grpSpPr>
          <p:sp>
            <p:nvSpPr>
              <p:cNvPr id="20516" name="Freeform 8">
                <a:extLst>
                  <a:ext uri="{FF2B5EF4-FFF2-40B4-BE49-F238E27FC236}">
                    <a16:creationId xmlns:a16="http://schemas.microsoft.com/office/drawing/2014/main" id="{600BB6F2-95BE-0BCF-382D-4F5FEF1212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" y="1941"/>
                <a:ext cx="143" cy="418"/>
              </a:xfrm>
              <a:custGeom>
                <a:avLst/>
                <a:gdLst>
                  <a:gd name="T0" fmla="*/ 143 w 143"/>
                  <a:gd name="T1" fmla="*/ 0 h 418"/>
                  <a:gd name="T2" fmla="*/ 143 w 143"/>
                  <a:gd name="T3" fmla="*/ 263 h 418"/>
                  <a:gd name="T4" fmla="*/ 0 w 143"/>
                  <a:gd name="T5" fmla="*/ 418 h 4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3" h="418">
                    <a:moveTo>
                      <a:pt x="143" y="0"/>
                    </a:moveTo>
                    <a:lnTo>
                      <a:pt x="143" y="263"/>
                    </a:lnTo>
                    <a:lnTo>
                      <a:pt x="0" y="41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17" name="Line 9">
                <a:extLst>
                  <a:ext uri="{FF2B5EF4-FFF2-40B4-BE49-F238E27FC236}">
                    <a16:creationId xmlns:a16="http://schemas.microsoft.com/office/drawing/2014/main" id="{3C5DE577-9E65-E942-67DF-66682B11EF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2" y="2204"/>
                <a:ext cx="156" cy="1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18" name="Line 10">
                <a:extLst>
                  <a:ext uri="{FF2B5EF4-FFF2-40B4-BE49-F238E27FC236}">
                    <a16:creationId xmlns:a16="http://schemas.microsoft.com/office/drawing/2014/main" id="{EEBBC3A3-F74D-6D3C-F5C7-8801AE67FD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9" y="2060"/>
                <a:ext cx="29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19" name="Oval 11">
                <a:extLst>
                  <a:ext uri="{FF2B5EF4-FFF2-40B4-BE49-F238E27FC236}">
                    <a16:creationId xmlns:a16="http://schemas.microsoft.com/office/drawing/2014/main" id="{1E12AE10-8806-B8C4-B1FE-FC3FA39F38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" y="1833"/>
                <a:ext cx="155" cy="15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000">
                  <a:latin typeface="Times" panose="02020603050405020304" pitchFamily="18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20515" name="Rectangle 12">
              <a:extLst>
                <a:ext uri="{FF2B5EF4-FFF2-40B4-BE49-F238E27FC236}">
                  <a16:creationId xmlns:a16="http://schemas.microsoft.com/office/drawing/2014/main" id="{DE06C1B6-147C-68B9-E4EC-6CAC5777D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6" y="1322"/>
              <a:ext cx="872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  <a:latin typeface="Courier" charset="0"/>
                  <a:ea typeface="MS PGothic" panose="020B0600070205080204" pitchFamily="34" charset="-128"/>
                </a:rPr>
                <a:t>Passenger</a:t>
              </a:r>
              <a:endParaRPr lang="en-US" altLang="en-US" sz="2000" b="0">
                <a:latin typeface="Helvetica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grpSp>
        <p:nvGrpSpPr>
          <p:cNvPr id="20485" name="Group 38">
            <a:extLst>
              <a:ext uri="{FF2B5EF4-FFF2-40B4-BE49-F238E27FC236}">
                <a16:creationId xmlns:a16="http://schemas.microsoft.com/office/drawing/2014/main" id="{E7CCCC17-500D-B98E-25E2-395894C27F76}"/>
              </a:ext>
            </a:extLst>
          </p:cNvPr>
          <p:cNvGrpSpPr>
            <a:grpSpLocks/>
          </p:cNvGrpSpPr>
          <p:nvPr/>
        </p:nvGrpSpPr>
        <p:grpSpPr bwMode="auto">
          <a:xfrm>
            <a:off x="153988" y="2862263"/>
            <a:ext cx="3078162" cy="812800"/>
            <a:chOff x="337" y="1803"/>
            <a:chExt cx="1940" cy="512"/>
          </a:xfrm>
        </p:grpSpPr>
        <p:sp>
          <p:nvSpPr>
            <p:cNvPr id="20512" name="Oval 14">
              <a:extLst>
                <a:ext uri="{FF2B5EF4-FFF2-40B4-BE49-F238E27FC236}">
                  <a16:creationId xmlns:a16="http://schemas.microsoft.com/office/drawing/2014/main" id="{CF154B87-D328-7A3D-B15D-8D993A42DA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4" y="1803"/>
              <a:ext cx="706" cy="301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" panose="02020603050405020304" pitchFamily="18" charset="0"/>
                <a:ea typeface="MS PGothic" panose="020B0600070205080204" pitchFamily="34" charset="-128"/>
              </a:endParaRPr>
            </a:p>
          </p:txBody>
        </p:sp>
        <p:sp>
          <p:nvSpPr>
            <p:cNvPr id="20513" name="Rectangle 15">
              <a:extLst>
                <a:ext uri="{FF2B5EF4-FFF2-40B4-BE49-F238E27FC236}">
                  <a16:creationId xmlns:a16="http://schemas.microsoft.com/office/drawing/2014/main" id="{7548981C-5EEF-D49C-E667-34F3D4C94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" y="2121"/>
              <a:ext cx="194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  <a:latin typeface="Courier" charset="0"/>
                  <a:ea typeface="MS PGothic" panose="020B0600070205080204" pitchFamily="34" charset="-128"/>
                </a:rPr>
                <a:t>PurchaseSingleTicket</a:t>
              </a:r>
              <a:endParaRPr lang="en-US" altLang="en-US" sz="2000" b="0">
                <a:latin typeface="Helvetica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20486" name="Line 16">
            <a:extLst>
              <a:ext uri="{FF2B5EF4-FFF2-40B4-BE49-F238E27FC236}">
                <a16:creationId xmlns:a16="http://schemas.microsoft.com/office/drawing/2014/main" id="{B991944E-2220-9BEE-85BE-8982C02472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89075" y="2462213"/>
            <a:ext cx="1588" cy="3206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0487" name="Group 37">
            <a:extLst>
              <a:ext uri="{FF2B5EF4-FFF2-40B4-BE49-F238E27FC236}">
                <a16:creationId xmlns:a16="http://schemas.microsoft.com/office/drawing/2014/main" id="{120D9A21-662A-59B6-2A0D-624202BE9670}"/>
              </a:ext>
            </a:extLst>
          </p:cNvPr>
          <p:cNvGrpSpPr>
            <a:grpSpLocks/>
          </p:cNvGrpSpPr>
          <p:nvPr/>
        </p:nvGrpSpPr>
        <p:grpSpPr bwMode="auto">
          <a:xfrm>
            <a:off x="2617788" y="2405063"/>
            <a:ext cx="2616200" cy="812800"/>
            <a:chOff x="1649" y="1515"/>
            <a:chExt cx="1648" cy="512"/>
          </a:xfrm>
        </p:grpSpPr>
        <p:sp>
          <p:nvSpPr>
            <p:cNvPr id="20510" name="Oval 18">
              <a:extLst>
                <a:ext uri="{FF2B5EF4-FFF2-40B4-BE49-F238E27FC236}">
                  <a16:creationId xmlns:a16="http://schemas.microsoft.com/office/drawing/2014/main" id="{DD28BBF5-C154-37B8-A640-67552B691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7" y="1515"/>
              <a:ext cx="706" cy="301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" panose="02020603050405020304" pitchFamily="18" charset="0"/>
                <a:ea typeface="MS PGothic" panose="020B0600070205080204" pitchFamily="34" charset="-128"/>
              </a:endParaRPr>
            </a:p>
          </p:txBody>
        </p:sp>
        <p:sp>
          <p:nvSpPr>
            <p:cNvPr id="20511" name="Rectangle 19">
              <a:extLst>
                <a:ext uri="{FF2B5EF4-FFF2-40B4-BE49-F238E27FC236}">
                  <a16:creationId xmlns:a16="http://schemas.microsoft.com/office/drawing/2014/main" id="{14B8CE1C-1E4D-6D15-EB66-2B10541B9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9" y="1833"/>
              <a:ext cx="164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  <a:latin typeface="Courier" charset="0"/>
                  <a:ea typeface="MS PGothic" panose="020B0600070205080204" pitchFamily="34" charset="-128"/>
                </a:rPr>
                <a:t>PurchaseMultiCard</a:t>
              </a:r>
              <a:endParaRPr lang="en-US" altLang="en-US" sz="2000" b="0">
                <a:latin typeface="Helvetica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20488" name="Line 20">
            <a:extLst>
              <a:ext uri="{FF2B5EF4-FFF2-40B4-BE49-F238E27FC236}">
                <a16:creationId xmlns:a16="http://schemas.microsoft.com/office/drawing/2014/main" id="{85450C57-5B7D-B16E-7699-F87B9B390B9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7263" y="2017713"/>
            <a:ext cx="1116012" cy="3714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0395" name="Group 43">
            <a:extLst>
              <a:ext uri="{FF2B5EF4-FFF2-40B4-BE49-F238E27FC236}">
                <a16:creationId xmlns:a16="http://schemas.microsoft.com/office/drawing/2014/main" id="{1DCB7623-C59A-D524-144B-7E8121DF5511}"/>
              </a:ext>
            </a:extLst>
          </p:cNvPr>
          <p:cNvGrpSpPr>
            <a:grpSpLocks/>
          </p:cNvGrpSpPr>
          <p:nvPr/>
        </p:nvGrpSpPr>
        <p:grpSpPr bwMode="auto">
          <a:xfrm>
            <a:off x="446088" y="5026025"/>
            <a:ext cx="1577975" cy="1290638"/>
            <a:chOff x="281" y="3166"/>
            <a:chExt cx="994" cy="813"/>
          </a:xfrm>
        </p:grpSpPr>
        <p:grpSp>
          <p:nvGrpSpPr>
            <p:cNvPr id="20505" name="Group 24">
              <a:extLst>
                <a:ext uri="{FF2B5EF4-FFF2-40B4-BE49-F238E27FC236}">
                  <a16:creationId xmlns:a16="http://schemas.microsoft.com/office/drawing/2014/main" id="{6ADB5E17-6D13-6910-6D67-F7D9CE6B29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8" y="3467"/>
              <a:ext cx="783" cy="512"/>
              <a:chOff x="518" y="2443"/>
              <a:chExt cx="783" cy="512"/>
            </a:xfrm>
          </p:grpSpPr>
          <p:sp>
            <p:nvSpPr>
              <p:cNvPr id="20508" name="Oval 25">
                <a:extLst>
                  <a:ext uri="{FF2B5EF4-FFF2-40B4-BE49-F238E27FC236}">
                    <a16:creationId xmlns:a16="http://schemas.microsoft.com/office/drawing/2014/main" id="{DE7F3E2C-458E-4F6D-8410-F67C225BB8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" y="2443"/>
                <a:ext cx="706" cy="301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000">
                  <a:latin typeface="Times" panose="02020603050405020304" pitchFamily="18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20509" name="Rectangle 26">
                <a:extLst>
                  <a:ext uri="{FF2B5EF4-FFF2-40B4-BE49-F238E27FC236}">
                    <a16:creationId xmlns:a16="http://schemas.microsoft.com/office/drawing/2014/main" id="{299123D0-9990-2C68-D045-236491782F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6" y="2761"/>
                <a:ext cx="775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solidFill>
                      <a:srgbClr val="000000"/>
                    </a:solidFill>
                    <a:latin typeface="Courier" charset="0"/>
                    <a:ea typeface="MS PGothic" panose="020B0600070205080204" pitchFamily="34" charset="-128"/>
                  </a:rPr>
                  <a:t>NoChange</a:t>
                </a:r>
                <a:endParaRPr lang="en-US" altLang="en-US" sz="2000" b="0">
                  <a:latin typeface="Helvetica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20506" name="Line 30">
              <a:extLst>
                <a:ext uri="{FF2B5EF4-FFF2-40B4-BE49-F238E27FC236}">
                  <a16:creationId xmlns:a16="http://schemas.microsoft.com/office/drawing/2014/main" id="{CEEBB91E-7F5A-EF10-D1AB-C8E8EBAE49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0" y="3207"/>
              <a:ext cx="305" cy="1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7" name="Text Box 31">
              <a:extLst>
                <a:ext uri="{FF2B5EF4-FFF2-40B4-BE49-F238E27FC236}">
                  <a16:creationId xmlns:a16="http://schemas.microsoft.com/office/drawing/2014/main" id="{65ABAFDA-D2F2-9814-19F9-BB9ACCC199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" y="3166"/>
              <a:ext cx="861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Courier" charset="0"/>
                  <a:ea typeface="MS PGothic" panose="020B0600070205080204" pitchFamily="34" charset="-128"/>
                </a:rPr>
                <a:t>&lt;&lt;extends&gt;&gt;</a:t>
              </a:r>
            </a:p>
          </p:txBody>
        </p:sp>
      </p:grpSp>
      <p:grpSp>
        <p:nvGrpSpPr>
          <p:cNvPr id="100396" name="Group 44">
            <a:extLst>
              <a:ext uri="{FF2B5EF4-FFF2-40B4-BE49-F238E27FC236}">
                <a16:creationId xmlns:a16="http://schemas.microsoft.com/office/drawing/2014/main" id="{9B12425D-777D-0895-14FC-C26040D94A83}"/>
              </a:ext>
            </a:extLst>
          </p:cNvPr>
          <p:cNvGrpSpPr>
            <a:grpSpLocks/>
          </p:cNvGrpSpPr>
          <p:nvPr/>
        </p:nvGrpSpPr>
        <p:grpSpPr bwMode="auto">
          <a:xfrm>
            <a:off x="3967163" y="5089525"/>
            <a:ext cx="1757362" cy="1227138"/>
            <a:chOff x="2499" y="3206"/>
            <a:chExt cx="1107" cy="773"/>
          </a:xfrm>
        </p:grpSpPr>
        <p:grpSp>
          <p:nvGrpSpPr>
            <p:cNvPr id="20500" name="Group 27">
              <a:extLst>
                <a:ext uri="{FF2B5EF4-FFF2-40B4-BE49-F238E27FC236}">
                  <a16:creationId xmlns:a16="http://schemas.microsoft.com/office/drawing/2014/main" id="{19CEFE63-AC18-7529-605C-61D2C30BB9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86" y="3467"/>
              <a:ext cx="706" cy="512"/>
              <a:chOff x="1762" y="2595"/>
              <a:chExt cx="706" cy="512"/>
            </a:xfrm>
          </p:grpSpPr>
          <p:sp>
            <p:nvSpPr>
              <p:cNvPr id="20503" name="Oval 28">
                <a:extLst>
                  <a:ext uri="{FF2B5EF4-FFF2-40B4-BE49-F238E27FC236}">
                    <a16:creationId xmlns:a16="http://schemas.microsoft.com/office/drawing/2014/main" id="{95C787CB-FF22-D005-6565-739170215F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2" y="2595"/>
                <a:ext cx="706" cy="301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000">
                  <a:latin typeface="Times" panose="02020603050405020304" pitchFamily="18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20504" name="Rectangle 29">
                <a:extLst>
                  <a:ext uri="{FF2B5EF4-FFF2-40B4-BE49-F238E27FC236}">
                    <a16:creationId xmlns:a16="http://schemas.microsoft.com/office/drawing/2014/main" id="{DA30200D-C48D-6E06-2397-08D1F8174D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3" y="2913"/>
                <a:ext cx="582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solidFill>
                      <a:srgbClr val="000000"/>
                    </a:solidFill>
                    <a:latin typeface="Courier" charset="0"/>
                    <a:ea typeface="MS PGothic" panose="020B0600070205080204" pitchFamily="34" charset="-128"/>
                  </a:rPr>
                  <a:t>Cancel</a:t>
                </a:r>
                <a:endParaRPr lang="en-US" altLang="en-US" sz="2000" b="0">
                  <a:latin typeface="Helvetica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20501" name="Line 32">
              <a:extLst>
                <a:ext uri="{FF2B5EF4-FFF2-40B4-BE49-F238E27FC236}">
                  <a16:creationId xmlns:a16="http://schemas.microsoft.com/office/drawing/2014/main" id="{626C0AC7-07B5-1E9F-AEBB-637D5B3050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9" y="3239"/>
              <a:ext cx="287" cy="1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2" name="Text Box 34">
              <a:extLst>
                <a:ext uri="{FF2B5EF4-FFF2-40B4-BE49-F238E27FC236}">
                  <a16:creationId xmlns:a16="http://schemas.microsoft.com/office/drawing/2014/main" id="{B9DF318E-F679-6E4F-70A8-A37078E16F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5" y="3206"/>
              <a:ext cx="861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Courier" charset="0"/>
                  <a:ea typeface="MS PGothic" panose="020B0600070205080204" pitchFamily="34" charset="-128"/>
                </a:rPr>
                <a:t>&lt;&lt;extends&gt;&gt;</a:t>
              </a:r>
            </a:p>
          </p:txBody>
        </p:sp>
      </p:grpSp>
      <p:grpSp>
        <p:nvGrpSpPr>
          <p:cNvPr id="100394" name="Group 42">
            <a:extLst>
              <a:ext uri="{FF2B5EF4-FFF2-40B4-BE49-F238E27FC236}">
                <a16:creationId xmlns:a16="http://schemas.microsoft.com/office/drawing/2014/main" id="{9AFD1516-881C-C3E2-7A0A-BCF8A949B6BD}"/>
              </a:ext>
            </a:extLst>
          </p:cNvPr>
          <p:cNvGrpSpPr>
            <a:grpSpLocks/>
          </p:cNvGrpSpPr>
          <p:nvPr/>
        </p:nvGrpSpPr>
        <p:grpSpPr bwMode="auto">
          <a:xfrm>
            <a:off x="3190875" y="3236913"/>
            <a:ext cx="1881188" cy="1069975"/>
            <a:chOff x="2010" y="2039"/>
            <a:chExt cx="1185" cy="674"/>
          </a:xfrm>
        </p:grpSpPr>
        <p:sp>
          <p:nvSpPr>
            <p:cNvPr id="20498" name="Line 36">
              <a:extLst>
                <a:ext uri="{FF2B5EF4-FFF2-40B4-BE49-F238E27FC236}">
                  <a16:creationId xmlns:a16="http://schemas.microsoft.com/office/drawing/2014/main" id="{2475DDDC-5B07-B2F1-EC1D-17425A173C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0" y="2039"/>
              <a:ext cx="329" cy="67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9" name="Text Box 39">
              <a:extLst>
                <a:ext uri="{FF2B5EF4-FFF2-40B4-BE49-F238E27FC236}">
                  <a16:creationId xmlns:a16="http://schemas.microsoft.com/office/drawing/2014/main" id="{2406E62E-1F95-5F49-D9C5-E8C662F482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2" y="2300"/>
              <a:ext cx="943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Courier" charset="0"/>
                  <a:ea typeface="MS PGothic" panose="020B0600070205080204" pitchFamily="34" charset="-128"/>
                </a:rPr>
                <a:t>&lt;&lt;includes&gt;&gt;</a:t>
              </a:r>
            </a:p>
          </p:txBody>
        </p:sp>
      </p:grpSp>
      <p:grpSp>
        <p:nvGrpSpPr>
          <p:cNvPr id="100393" name="Group 41">
            <a:extLst>
              <a:ext uri="{FF2B5EF4-FFF2-40B4-BE49-F238E27FC236}">
                <a16:creationId xmlns:a16="http://schemas.microsoft.com/office/drawing/2014/main" id="{AF2307C9-2067-8159-C6C7-4402A1451351}"/>
              </a:ext>
            </a:extLst>
          </p:cNvPr>
          <p:cNvGrpSpPr>
            <a:grpSpLocks/>
          </p:cNvGrpSpPr>
          <p:nvPr/>
        </p:nvGrpSpPr>
        <p:grpSpPr bwMode="auto">
          <a:xfrm>
            <a:off x="841375" y="3706813"/>
            <a:ext cx="3203575" cy="1492250"/>
            <a:chOff x="530" y="2335"/>
            <a:chExt cx="2019" cy="940"/>
          </a:xfrm>
        </p:grpSpPr>
        <p:grpSp>
          <p:nvGrpSpPr>
            <p:cNvPr id="20493" name="Group 33">
              <a:extLst>
                <a:ext uri="{FF2B5EF4-FFF2-40B4-BE49-F238E27FC236}">
                  <a16:creationId xmlns:a16="http://schemas.microsoft.com/office/drawing/2014/main" id="{B87E408D-3FE4-5303-0817-9E6F281194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5" y="2763"/>
              <a:ext cx="1164" cy="512"/>
              <a:chOff x="1337" y="2763"/>
              <a:chExt cx="1164" cy="512"/>
            </a:xfrm>
          </p:grpSpPr>
          <p:sp>
            <p:nvSpPr>
              <p:cNvPr id="20496" name="Oval 22">
                <a:extLst>
                  <a:ext uri="{FF2B5EF4-FFF2-40B4-BE49-F238E27FC236}">
                    <a16:creationId xmlns:a16="http://schemas.microsoft.com/office/drawing/2014/main" id="{94081099-6E3C-107A-09E7-2DBEACBC6B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0" y="2763"/>
                <a:ext cx="706" cy="301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000">
                  <a:latin typeface="Times" panose="02020603050405020304" pitchFamily="18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20497" name="Rectangle 23">
                <a:extLst>
                  <a:ext uri="{FF2B5EF4-FFF2-40B4-BE49-F238E27FC236}">
                    <a16:creationId xmlns:a16="http://schemas.microsoft.com/office/drawing/2014/main" id="{A8261FF9-E36D-A316-6689-FF59F2813E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7" y="3081"/>
                <a:ext cx="1164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solidFill>
                      <a:srgbClr val="000000"/>
                    </a:solidFill>
                    <a:latin typeface="Courier" charset="0"/>
                    <a:ea typeface="MS PGothic" panose="020B0600070205080204" pitchFamily="34" charset="-128"/>
                  </a:rPr>
                  <a:t>CollectMoney</a:t>
                </a:r>
                <a:endParaRPr lang="en-US" altLang="en-US" sz="2000" b="0">
                  <a:latin typeface="Helvetica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20494" name="Line 35">
              <a:extLst>
                <a:ext uri="{FF2B5EF4-FFF2-40B4-BE49-F238E27FC236}">
                  <a16:creationId xmlns:a16="http://schemas.microsoft.com/office/drawing/2014/main" id="{9BA0931F-1BBE-FE32-20C9-6163F45843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9" y="2335"/>
              <a:ext cx="695" cy="3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5" name="Text Box 40">
              <a:extLst>
                <a:ext uri="{FF2B5EF4-FFF2-40B4-BE49-F238E27FC236}">
                  <a16:creationId xmlns:a16="http://schemas.microsoft.com/office/drawing/2014/main" id="{BBE5DA73-F37D-E1F3-CC10-BB1175BA89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" y="2518"/>
              <a:ext cx="92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Courier" charset="0"/>
                  <a:ea typeface="MS PGothic" panose="020B0600070205080204" pitchFamily="34" charset="-128"/>
                </a:rPr>
                <a:t>&lt;&lt;includes&gt;&gt;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E2FFA36-056F-CF55-382A-446D8EA122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Use Case Diagram</a:t>
            </a:r>
            <a:br>
              <a:rPr lang="en-US" altLang="en-US"/>
            </a:br>
            <a:r>
              <a:rPr lang="en-US" altLang="en-US" sz="3200">
                <a:solidFill>
                  <a:srgbClr val="680000"/>
                </a:solidFill>
              </a:rPr>
              <a:t>High-level goal: ARRIVE</a:t>
            </a:r>
          </a:p>
        </p:txBody>
      </p:sp>
      <p:sp>
        <p:nvSpPr>
          <p:cNvPr id="21507" name="Text Box 232">
            <a:extLst>
              <a:ext uri="{FF2B5EF4-FFF2-40B4-BE49-F238E27FC236}">
                <a16:creationId xmlns:a16="http://schemas.microsoft.com/office/drawing/2014/main" id="{D891ED14-5A54-593A-D3A9-28C6ECEBDCE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375525" y="1139825"/>
            <a:ext cx="1476375" cy="1127125"/>
          </a:xfrm>
          <a:prstGeom prst="rect">
            <a:avLst/>
          </a:prstGeom>
          <a:solidFill>
            <a:schemeClr val="bg1"/>
          </a:solidFill>
          <a:ln w="57150">
            <a:solidFill>
              <a:srgbClr val="00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UC1: Unlock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UC2: Lock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UC3: AddUser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UC4: RemoveUser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UC5: InspectAccessHistory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UC6: SetDevicePrefs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UC7: AuthenticateUser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UC8: Login</a:t>
            </a:r>
          </a:p>
        </p:txBody>
      </p:sp>
      <p:sp>
        <p:nvSpPr>
          <p:cNvPr id="21508" name="TextBox 1">
            <a:extLst>
              <a:ext uri="{FF2B5EF4-FFF2-40B4-BE49-F238E27FC236}">
                <a16:creationId xmlns:a16="http://schemas.microsoft.com/office/drawing/2014/main" id="{A0FF3704-C2F8-6AA5-E75C-53358276E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25" y="6094413"/>
            <a:ext cx="89296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Arial" panose="020B0604020202020204" pitchFamily="34" charset="0"/>
              </a:rPr>
              <a:t>Interestingly, we keep mentioning “home” and “doors,” but they do not appear as actors!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Arial" panose="020B0604020202020204" pitchFamily="34" charset="0"/>
              </a:rPr>
              <a:t>This issue will be discussed in a later lecture (Domain Model)</a:t>
            </a:r>
          </a:p>
        </p:txBody>
      </p:sp>
      <p:pic>
        <p:nvPicPr>
          <p:cNvPr id="21509" name="Picture 1">
            <a:extLst>
              <a:ext uri="{FF2B5EF4-FFF2-40B4-BE49-F238E27FC236}">
                <a16:creationId xmlns:a16="http://schemas.microsoft.com/office/drawing/2014/main" id="{78010A16-E8D4-D7E7-8B3C-649972A92C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154238"/>
            <a:ext cx="8321675" cy="356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20C22-A2CF-F56D-681A-0A64F712D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52400"/>
            <a:ext cx="898525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DRY Use Cases</a:t>
            </a:r>
            <a:br>
              <a:rPr lang="en-US" sz="3100" dirty="0"/>
            </a:br>
            <a:r>
              <a:rPr lang="en-US" sz="3100" dirty="0"/>
              <a:t>Remove Redundancies Using </a:t>
            </a:r>
            <a:r>
              <a:rPr lang="en-US" sz="3100" dirty="0">
                <a:solidFill>
                  <a:srgbClr val="680000"/>
                </a:solidFill>
              </a:rPr>
              <a:t>Subroutine</a:t>
            </a:r>
            <a:r>
              <a:rPr lang="en-US" sz="3100" dirty="0"/>
              <a:t> Use Cases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BAC187B8-3BDD-634E-8A2F-C2A337E377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Don't repeat yourself</a:t>
            </a:r>
          </a:p>
          <a:p>
            <a:pPr lvl="1"/>
            <a:r>
              <a:rPr lang="en-US" altLang="en-US" u="sng">
                <a:solidFill>
                  <a:schemeClr val="accent2"/>
                </a:solidFill>
                <a:latin typeface="Arial" panose="020B0604020202020204" pitchFamily="34" charset="0"/>
              </a:rPr>
              <a:t>https://en.wikipedia.org/wiki/Don%27t_repeat_yourself</a:t>
            </a:r>
            <a:r>
              <a:rPr lang="en-US" altLang="en-US">
                <a:latin typeface="Arial" panose="020B0604020202020204" pitchFamily="34" charset="0"/>
              </a:rPr>
              <a:t> </a:t>
            </a:r>
          </a:p>
          <a:p>
            <a:r>
              <a:rPr lang="en-US" altLang="en-US"/>
              <a:t>In Detailed Use cases or System Sequence Diagrams (described later):</a:t>
            </a:r>
            <a:br>
              <a:rPr lang="en-US" altLang="en-US"/>
            </a:br>
            <a:r>
              <a:rPr lang="en-US" altLang="en-US"/>
              <a:t>Remove redundant parts of base use cases that are common to multiple use cases by </a:t>
            </a:r>
            <a:r>
              <a:rPr lang="en-US" altLang="en-US" b="1">
                <a:solidFill>
                  <a:srgbClr val="680000"/>
                </a:solidFill>
              </a:rPr>
              <a:t>parametrizing them as </a:t>
            </a:r>
            <a:r>
              <a:rPr lang="en-US" altLang="en-US" b="1" u="sng">
                <a:solidFill>
                  <a:srgbClr val="680000"/>
                </a:solidFill>
              </a:rPr>
              <a:t>subroutine</a:t>
            </a:r>
            <a:r>
              <a:rPr lang="en-US" altLang="en-US" b="1">
                <a:solidFill>
                  <a:srgbClr val="680000"/>
                </a:solidFill>
              </a:rPr>
              <a:t> use cases</a:t>
            </a:r>
            <a:r>
              <a:rPr lang="en-US" altLang="en-US"/>
              <a:t> </a:t>
            </a:r>
          </a:p>
        </p:txBody>
      </p:sp>
      <p:sp>
        <p:nvSpPr>
          <p:cNvPr id="23556" name="Text Box 32">
            <a:extLst>
              <a:ext uri="{FF2B5EF4-FFF2-40B4-BE49-F238E27FC236}">
                <a16:creationId xmlns:a16="http://schemas.microsoft.com/office/drawing/2014/main" id="{53B84408-CE3E-3569-DDB2-C18643A56D9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 rot="1200000">
            <a:off x="3659188" y="5913438"/>
            <a:ext cx="441325" cy="1238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  <a:cs typeface="Arial" panose="020B0604020202020204" pitchFamily="34" charset="0"/>
                <a:sym typeface="MT Extra" panose="05050102010205020202" pitchFamily="18" charset="2"/>
              </a:rPr>
              <a:t>«</a:t>
            </a:r>
            <a:r>
              <a:rPr lang="en-US" altLang="en-US" sz="800" b="0">
                <a:latin typeface="Arial" panose="020B0604020202020204" pitchFamily="34" charset="0"/>
              </a:rPr>
              <a:t>extend</a:t>
            </a:r>
            <a:r>
              <a:rPr lang="en-US" altLang="en-US" sz="800" b="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</a:p>
        </p:txBody>
      </p:sp>
      <p:sp>
        <p:nvSpPr>
          <p:cNvPr id="23557" name="Text Box 33">
            <a:extLst>
              <a:ext uri="{FF2B5EF4-FFF2-40B4-BE49-F238E27FC236}">
                <a16:creationId xmlns:a16="http://schemas.microsoft.com/office/drawing/2014/main" id="{F9119F15-7CE9-65B4-AECF-253D463A393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 rot="-1200000">
            <a:off x="3678238" y="5329238"/>
            <a:ext cx="441325" cy="12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  <a:cs typeface="Arial" panose="020B0604020202020204" pitchFamily="34" charset="0"/>
                <a:sym typeface="MT Extra" panose="05050102010205020202" pitchFamily="18" charset="2"/>
              </a:rPr>
              <a:t>«</a:t>
            </a:r>
            <a:r>
              <a:rPr lang="en-US" altLang="en-US" sz="800" b="0">
                <a:latin typeface="Arial" panose="020B0604020202020204" pitchFamily="34" charset="0"/>
              </a:rPr>
              <a:t>extend</a:t>
            </a:r>
            <a:r>
              <a:rPr lang="en-US" altLang="en-US" sz="800" b="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</a:p>
        </p:txBody>
      </p:sp>
      <p:cxnSp>
        <p:nvCxnSpPr>
          <p:cNvPr id="23558" name="AutoShape 34">
            <a:extLst>
              <a:ext uri="{FF2B5EF4-FFF2-40B4-BE49-F238E27FC236}">
                <a16:creationId xmlns:a16="http://schemas.microsoft.com/office/drawing/2014/main" id="{9BFB871D-C9CC-8278-B814-E56176E07C5C}"/>
              </a:ext>
            </a:extLst>
          </p:cNvPr>
          <p:cNvCxnSpPr>
            <a:cxnSpLocks noChangeAspect="1" noChangeShapeType="1"/>
            <a:stCxn id="23561" idx="3"/>
            <a:endCxn id="23564" idx="1"/>
          </p:cNvCxnSpPr>
          <p:nvPr/>
        </p:nvCxnSpPr>
        <p:spPr bwMode="auto">
          <a:xfrm flipH="1">
            <a:off x="3786188" y="5354638"/>
            <a:ext cx="596900" cy="215900"/>
          </a:xfrm>
          <a:prstGeom prst="straightConnector1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59" name="AutoShape 35">
            <a:extLst>
              <a:ext uri="{FF2B5EF4-FFF2-40B4-BE49-F238E27FC236}">
                <a16:creationId xmlns:a16="http://schemas.microsoft.com/office/drawing/2014/main" id="{9690B776-3CF9-E4AD-C27D-6DD81CAD1283}"/>
              </a:ext>
            </a:extLst>
          </p:cNvPr>
          <p:cNvCxnSpPr>
            <a:cxnSpLocks noChangeAspect="1" noChangeShapeType="1"/>
            <a:stCxn id="23560" idx="1"/>
            <a:endCxn id="23563" idx="1"/>
          </p:cNvCxnSpPr>
          <p:nvPr/>
        </p:nvCxnSpPr>
        <p:spPr bwMode="auto">
          <a:xfrm flipH="1" flipV="1">
            <a:off x="3786188" y="5780088"/>
            <a:ext cx="554037" cy="212725"/>
          </a:xfrm>
          <a:prstGeom prst="straightConnector1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560" name="Oval 36">
            <a:extLst>
              <a:ext uri="{FF2B5EF4-FFF2-40B4-BE49-F238E27FC236}">
                <a16:creationId xmlns:a16="http://schemas.microsoft.com/office/drawing/2014/main" id="{3EC85881-4D47-2D62-D7D0-813CF7B302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14800" y="5954713"/>
            <a:ext cx="1541463" cy="2730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b="0">
                <a:latin typeface="Arial" panose="020B0604020202020204" pitchFamily="34" charset="0"/>
              </a:rPr>
              <a:t>UC6: SetDevicePrefs</a:t>
            </a:r>
          </a:p>
        </p:txBody>
      </p:sp>
      <p:sp>
        <p:nvSpPr>
          <p:cNvPr id="23561" name="Oval 37">
            <a:extLst>
              <a:ext uri="{FF2B5EF4-FFF2-40B4-BE49-F238E27FC236}">
                <a16:creationId xmlns:a16="http://schemas.microsoft.com/office/drawing/2014/main" id="{AE495BC9-D7D1-83FD-EF43-8C9B7F809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5119688"/>
            <a:ext cx="1828800" cy="2762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b="0">
                <a:latin typeface="Arial" panose="020B0604020202020204" pitchFamily="34" charset="0"/>
              </a:rPr>
              <a:t>UC5: InspectAccessHistory</a:t>
            </a:r>
          </a:p>
        </p:txBody>
      </p:sp>
      <p:sp>
        <p:nvSpPr>
          <p:cNvPr id="23562" name="Oval 38">
            <a:extLst>
              <a:ext uri="{FF2B5EF4-FFF2-40B4-BE49-F238E27FC236}">
                <a16:creationId xmlns:a16="http://schemas.microsoft.com/office/drawing/2014/main" id="{45890C9D-967C-8FB2-2396-3E8301ED8E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6988" y="5535613"/>
            <a:ext cx="1392237" cy="2762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b="0">
                <a:latin typeface="Arial" panose="020B0604020202020204" pitchFamily="34" charset="0"/>
              </a:rPr>
              <a:t>ManageAccount</a:t>
            </a:r>
            <a:endParaRPr lang="en-US" altLang="en-US" sz="1000" b="0" i="1">
              <a:latin typeface="Arial" panose="020B0604020202020204" pitchFamily="34" charset="0"/>
            </a:endParaRPr>
          </a:p>
        </p:txBody>
      </p:sp>
      <p:sp>
        <p:nvSpPr>
          <p:cNvPr id="23563" name="Freeform 41">
            <a:extLst>
              <a:ext uri="{FF2B5EF4-FFF2-40B4-BE49-F238E27FC236}">
                <a16:creationId xmlns:a16="http://schemas.microsoft.com/office/drawing/2014/main" id="{98C5AAC5-750E-3E57-BA8E-278D0E38EAD9}"/>
              </a:ext>
            </a:extLst>
          </p:cNvPr>
          <p:cNvSpPr>
            <a:spLocks noChangeAspect="1"/>
          </p:cNvSpPr>
          <p:nvPr/>
        </p:nvSpPr>
        <p:spPr bwMode="auto">
          <a:xfrm rot="12000000" flipV="1">
            <a:off x="3784600" y="5751513"/>
            <a:ext cx="79375" cy="82550"/>
          </a:xfrm>
          <a:custGeom>
            <a:avLst/>
            <a:gdLst>
              <a:gd name="T0" fmla="*/ 0 w 51"/>
              <a:gd name="T1" fmla="*/ 0 h 53"/>
              <a:gd name="T2" fmla="*/ 2147483646 w 51"/>
              <a:gd name="T3" fmla="*/ 2147483646 h 53"/>
              <a:gd name="T4" fmla="*/ 0 w 51"/>
              <a:gd name="T5" fmla="*/ 2147483646 h 5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1" h="53">
                <a:moveTo>
                  <a:pt x="0" y="0"/>
                </a:moveTo>
                <a:lnTo>
                  <a:pt x="51" y="27"/>
                </a:lnTo>
                <a:lnTo>
                  <a:pt x="0" y="53"/>
                </a:lnTo>
              </a:path>
            </a:pathLst>
          </a:custGeom>
          <a:noFill/>
          <a:ln w="63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4" name="Freeform 42">
            <a:extLst>
              <a:ext uri="{FF2B5EF4-FFF2-40B4-BE49-F238E27FC236}">
                <a16:creationId xmlns:a16="http://schemas.microsoft.com/office/drawing/2014/main" id="{6118A5E7-2E2E-BDCE-86BC-084F39B57715}"/>
              </a:ext>
            </a:extLst>
          </p:cNvPr>
          <p:cNvSpPr>
            <a:spLocks noChangeAspect="1"/>
          </p:cNvSpPr>
          <p:nvPr/>
        </p:nvSpPr>
        <p:spPr bwMode="auto">
          <a:xfrm rot="9600000" flipV="1">
            <a:off x="3783013" y="5513388"/>
            <a:ext cx="80962" cy="82550"/>
          </a:xfrm>
          <a:custGeom>
            <a:avLst/>
            <a:gdLst>
              <a:gd name="T0" fmla="*/ 0 w 51"/>
              <a:gd name="T1" fmla="*/ 0 h 53"/>
              <a:gd name="T2" fmla="*/ 2147483646 w 51"/>
              <a:gd name="T3" fmla="*/ 2147483646 h 53"/>
              <a:gd name="T4" fmla="*/ 0 w 51"/>
              <a:gd name="T5" fmla="*/ 2147483646 h 5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1" h="53">
                <a:moveTo>
                  <a:pt x="0" y="0"/>
                </a:moveTo>
                <a:lnTo>
                  <a:pt x="51" y="27"/>
                </a:lnTo>
                <a:lnTo>
                  <a:pt x="0" y="53"/>
                </a:lnTo>
              </a:path>
            </a:pathLst>
          </a:custGeom>
          <a:noFill/>
          <a:ln w="63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9EE5CE8-EF4E-4B22-DA41-5C816E654C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en-US" dirty="0"/>
              <a:t>Subroutine Use Cases</a:t>
            </a:r>
            <a:br>
              <a:rPr lang="en-US" altLang="en-US" dirty="0"/>
            </a:br>
            <a:r>
              <a:rPr lang="en-US" altLang="en-US" sz="3200" dirty="0"/>
              <a:t>Optional Use Cases: </a:t>
            </a:r>
            <a:r>
              <a:rPr lang="en-US" altLang="en-US" sz="3200" dirty="0">
                <a:solidFill>
                  <a:srgbClr val="680000"/>
                </a:solidFill>
                <a:sym typeface="MT Extra" panose="05050102010205020202" pitchFamily="18" charset="2"/>
              </a:rPr>
              <a:t>«</a:t>
            </a:r>
            <a:r>
              <a:rPr lang="en-US" altLang="en-US" sz="3200" dirty="0">
                <a:solidFill>
                  <a:srgbClr val="680000"/>
                </a:solidFill>
              </a:rPr>
              <a:t>extend»</a:t>
            </a:r>
          </a:p>
        </p:txBody>
      </p:sp>
      <p:sp>
        <p:nvSpPr>
          <p:cNvPr id="24579" name="Text Box 31">
            <a:extLst>
              <a:ext uri="{FF2B5EF4-FFF2-40B4-BE49-F238E27FC236}">
                <a16:creationId xmlns:a16="http://schemas.microsoft.com/office/drawing/2014/main" id="{DEA24167-7700-C44B-296A-498ECC04EEE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31763" y="1489075"/>
            <a:ext cx="409575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Arial" panose="020B0604020202020204" pitchFamily="34" charset="0"/>
              </a:rPr>
              <a:t>Example optional subroutine use cases:</a:t>
            </a:r>
          </a:p>
        </p:txBody>
      </p:sp>
      <p:sp>
        <p:nvSpPr>
          <p:cNvPr id="24580" name="Text Box 32">
            <a:extLst>
              <a:ext uri="{FF2B5EF4-FFF2-40B4-BE49-F238E27FC236}">
                <a16:creationId xmlns:a16="http://schemas.microsoft.com/office/drawing/2014/main" id="{873F54D8-22E2-AE49-4B02-C28BBA0CE12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 rot="1200000">
            <a:off x="4056063" y="2476500"/>
            <a:ext cx="441325" cy="1222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  <a:cs typeface="Arial" panose="020B0604020202020204" pitchFamily="34" charset="0"/>
                <a:sym typeface="MT Extra" panose="05050102010205020202" pitchFamily="18" charset="2"/>
              </a:rPr>
              <a:t>«</a:t>
            </a:r>
            <a:r>
              <a:rPr lang="en-US" altLang="en-US" sz="800" b="0">
                <a:latin typeface="Arial" panose="020B0604020202020204" pitchFamily="34" charset="0"/>
              </a:rPr>
              <a:t>extend</a:t>
            </a:r>
            <a:r>
              <a:rPr lang="en-US" altLang="en-US" sz="800" b="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</a:p>
        </p:txBody>
      </p:sp>
      <p:sp>
        <p:nvSpPr>
          <p:cNvPr id="24581" name="Text Box 33">
            <a:extLst>
              <a:ext uri="{FF2B5EF4-FFF2-40B4-BE49-F238E27FC236}">
                <a16:creationId xmlns:a16="http://schemas.microsoft.com/office/drawing/2014/main" id="{764F6E98-610C-213F-775C-DFA96279C11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 rot="-1200000">
            <a:off x="4075113" y="1890713"/>
            <a:ext cx="441325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  <a:cs typeface="Arial" panose="020B0604020202020204" pitchFamily="34" charset="0"/>
                <a:sym typeface="MT Extra" panose="05050102010205020202" pitchFamily="18" charset="2"/>
              </a:rPr>
              <a:t>«</a:t>
            </a:r>
            <a:r>
              <a:rPr lang="en-US" altLang="en-US" sz="800" b="0">
                <a:latin typeface="Arial" panose="020B0604020202020204" pitchFamily="34" charset="0"/>
              </a:rPr>
              <a:t>extend</a:t>
            </a:r>
            <a:r>
              <a:rPr lang="en-US" altLang="en-US" sz="800" b="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</a:p>
        </p:txBody>
      </p:sp>
      <p:cxnSp>
        <p:nvCxnSpPr>
          <p:cNvPr id="24582" name="AutoShape 34">
            <a:extLst>
              <a:ext uri="{FF2B5EF4-FFF2-40B4-BE49-F238E27FC236}">
                <a16:creationId xmlns:a16="http://schemas.microsoft.com/office/drawing/2014/main" id="{66482CC6-AC24-AF6F-D2E7-CDA3751846AF}"/>
              </a:ext>
            </a:extLst>
          </p:cNvPr>
          <p:cNvCxnSpPr>
            <a:cxnSpLocks noChangeAspect="1" noChangeShapeType="1"/>
            <a:stCxn id="24585" idx="3"/>
            <a:endCxn id="24588" idx="1"/>
          </p:cNvCxnSpPr>
          <p:nvPr/>
        </p:nvCxnSpPr>
        <p:spPr bwMode="auto">
          <a:xfrm flipH="1">
            <a:off x="4183063" y="1917700"/>
            <a:ext cx="596900" cy="214313"/>
          </a:xfrm>
          <a:prstGeom prst="straightConnector1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583" name="AutoShape 35">
            <a:extLst>
              <a:ext uri="{FF2B5EF4-FFF2-40B4-BE49-F238E27FC236}">
                <a16:creationId xmlns:a16="http://schemas.microsoft.com/office/drawing/2014/main" id="{D293A641-F8D9-F9CF-86F2-BCE0D2AB2917}"/>
              </a:ext>
            </a:extLst>
          </p:cNvPr>
          <p:cNvCxnSpPr>
            <a:cxnSpLocks noChangeAspect="1" noChangeShapeType="1"/>
            <a:stCxn id="24584" idx="1"/>
            <a:endCxn id="24587" idx="1"/>
          </p:cNvCxnSpPr>
          <p:nvPr/>
        </p:nvCxnSpPr>
        <p:spPr bwMode="auto">
          <a:xfrm flipH="1" flipV="1">
            <a:off x="4183063" y="2341563"/>
            <a:ext cx="554037" cy="214312"/>
          </a:xfrm>
          <a:prstGeom prst="straightConnector1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584" name="Oval 36">
            <a:extLst>
              <a:ext uri="{FF2B5EF4-FFF2-40B4-BE49-F238E27FC236}">
                <a16:creationId xmlns:a16="http://schemas.microsoft.com/office/drawing/2014/main" id="{48084D27-E4C2-C3DF-55A3-830BC58A96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11675" y="2516188"/>
            <a:ext cx="1541463" cy="2746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b="0">
                <a:latin typeface="Arial" panose="020B0604020202020204" pitchFamily="34" charset="0"/>
              </a:rPr>
              <a:t>UC6: SetDevicePrefs</a:t>
            </a:r>
          </a:p>
        </p:txBody>
      </p:sp>
      <p:sp>
        <p:nvSpPr>
          <p:cNvPr id="24585" name="Oval 37">
            <a:extLst>
              <a:ext uri="{FF2B5EF4-FFF2-40B4-BE49-F238E27FC236}">
                <a16:creationId xmlns:a16="http://schemas.microsoft.com/office/drawing/2014/main" id="{FCF63992-5EA4-71CE-75CE-13FFB1E64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1675" y="1682750"/>
            <a:ext cx="1828800" cy="2746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b="0">
                <a:latin typeface="Arial" panose="020B0604020202020204" pitchFamily="34" charset="0"/>
              </a:rPr>
              <a:t>UC5: InspectAccessHistory</a:t>
            </a:r>
          </a:p>
        </p:txBody>
      </p:sp>
      <p:sp>
        <p:nvSpPr>
          <p:cNvPr id="24586" name="Oval 38">
            <a:extLst>
              <a:ext uri="{FF2B5EF4-FFF2-40B4-BE49-F238E27FC236}">
                <a16:creationId xmlns:a16="http://schemas.microsoft.com/office/drawing/2014/main" id="{A2F7AF41-01D6-95BC-A607-5BE14D3AAA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3863" y="2098675"/>
            <a:ext cx="1392237" cy="2762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b="0">
                <a:latin typeface="Arial" panose="020B0604020202020204" pitchFamily="34" charset="0"/>
              </a:rPr>
              <a:t>ManageAccount</a:t>
            </a:r>
            <a:endParaRPr lang="en-US" altLang="en-US" sz="1000" b="0" i="1">
              <a:latin typeface="Arial" panose="020B0604020202020204" pitchFamily="34" charset="0"/>
            </a:endParaRPr>
          </a:p>
        </p:txBody>
      </p:sp>
      <p:sp>
        <p:nvSpPr>
          <p:cNvPr id="24587" name="Freeform 41">
            <a:extLst>
              <a:ext uri="{FF2B5EF4-FFF2-40B4-BE49-F238E27FC236}">
                <a16:creationId xmlns:a16="http://schemas.microsoft.com/office/drawing/2014/main" id="{938C5F3A-06C9-0974-4291-1192F2A03576}"/>
              </a:ext>
            </a:extLst>
          </p:cNvPr>
          <p:cNvSpPr>
            <a:spLocks noChangeAspect="1"/>
          </p:cNvSpPr>
          <p:nvPr/>
        </p:nvSpPr>
        <p:spPr bwMode="auto">
          <a:xfrm rot="12000000" flipV="1">
            <a:off x="4181475" y="2314575"/>
            <a:ext cx="79375" cy="82550"/>
          </a:xfrm>
          <a:custGeom>
            <a:avLst/>
            <a:gdLst>
              <a:gd name="T0" fmla="*/ 0 w 51"/>
              <a:gd name="T1" fmla="*/ 0 h 53"/>
              <a:gd name="T2" fmla="*/ 2147483646 w 51"/>
              <a:gd name="T3" fmla="*/ 2147483646 h 53"/>
              <a:gd name="T4" fmla="*/ 0 w 51"/>
              <a:gd name="T5" fmla="*/ 2147483646 h 5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1" h="53">
                <a:moveTo>
                  <a:pt x="0" y="0"/>
                </a:moveTo>
                <a:lnTo>
                  <a:pt x="51" y="27"/>
                </a:lnTo>
                <a:lnTo>
                  <a:pt x="0" y="53"/>
                </a:lnTo>
              </a:path>
            </a:pathLst>
          </a:custGeom>
          <a:noFill/>
          <a:ln w="63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8" name="Freeform 42">
            <a:extLst>
              <a:ext uri="{FF2B5EF4-FFF2-40B4-BE49-F238E27FC236}">
                <a16:creationId xmlns:a16="http://schemas.microsoft.com/office/drawing/2014/main" id="{62A91449-43DE-4641-1CF6-F490EDD8AD21}"/>
              </a:ext>
            </a:extLst>
          </p:cNvPr>
          <p:cNvSpPr>
            <a:spLocks noChangeAspect="1"/>
          </p:cNvSpPr>
          <p:nvPr/>
        </p:nvSpPr>
        <p:spPr bwMode="auto">
          <a:xfrm rot="9600000" flipV="1">
            <a:off x="4179888" y="2076450"/>
            <a:ext cx="80962" cy="82550"/>
          </a:xfrm>
          <a:custGeom>
            <a:avLst/>
            <a:gdLst>
              <a:gd name="T0" fmla="*/ 0 w 51"/>
              <a:gd name="T1" fmla="*/ 0 h 53"/>
              <a:gd name="T2" fmla="*/ 2147483646 w 51"/>
              <a:gd name="T3" fmla="*/ 2147483646 h 53"/>
              <a:gd name="T4" fmla="*/ 0 w 51"/>
              <a:gd name="T5" fmla="*/ 2147483646 h 5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1" h="53">
                <a:moveTo>
                  <a:pt x="0" y="0"/>
                </a:moveTo>
                <a:lnTo>
                  <a:pt x="51" y="27"/>
                </a:lnTo>
                <a:lnTo>
                  <a:pt x="0" y="53"/>
                </a:lnTo>
              </a:path>
            </a:pathLst>
          </a:custGeom>
          <a:noFill/>
          <a:ln w="63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9" name="Text Box 45">
            <a:extLst>
              <a:ext uri="{FF2B5EF4-FFF2-40B4-BE49-F238E27FC236}">
                <a16:creationId xmlns:a16="http://schemas.microsoft.com/office/drawing/2014/main" id="{52D7D838-ED2C-B10E-AD3E-C497EF345CB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375525" y="1139825"/>
            <a:ext cx="1476375" cy="1127125"/>
          </a:xfrm>
          <a:prstGeom prst="rect">
            <a:avLst/>
          </a:prstGeom>
          <a:solidFill>
            <a:schemeClr val="bg1"/>
          </a:solidFill>
          <a:ln w="57150">
            <a:solidFill>
              <a:srgbClr val="00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UC1: Unlock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UC2: Lock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UC3: AddUser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UC4: RemoveUser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UC5: InspectAccessHistory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UC6: SetDevicePrefs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UC7: AuthenticateUser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UC8: Login</a:t>
            </a:r>
          </a:p>
        </p:txBody>
      </p:sp>
      <p:grpSp>
        <p:nvGrpSpPr>
          <p:cNvPr id="24590" name="Group 72">
            <a:extLst>
              <a:ext uri="{FF2B5EF4-FFF2-40B4-BE49-F238E27FC236}">
                <a16:creationId xmlns:a16="http://schemas.microsoft.com/office/drawing/2014/main" id="{FD4C7809-BFD3-AE2B-8FAC-CB9F01B8227E}"/>
              </a:ext>
            </a:extLst>
          </p:cNvPr>
          <p:cNvGrpSpPr>
            <a:grpSpLocks/>
          </p:cNvGrpSpPr>
          <p:nvPr/>
        </p:nvGrpSpPr>
        <p:grpSpPr bwMode="auto">
          <a:xfrm>
            <a:off x="604838" y="3294063"/>
            <a:ext cx="7769225" cy="2843212"/>
            <a:chOff x="381" y="2165"/>
            <a:chExt cx="4894" cy="1791"/>
          </a:xfrm>
        </p:grpSpPr>
        <p:sp>
          <p:nvSpPr>
            <p:cNvPr id="24592" name="Line 46">
              <a:extLst>
                <a:ext uri="{FF2B5EF4-FFF2-40B4-BE49-F238E27FC236}">
                  <a16:creationId xmlns:a16="http://schemas.microsoft.com/office/drawing/2014/main" id="{09D1272B-A749-89AA-512A-1E2399BAEF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" y="2419"/>
              <a:ext cx="489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3" name="Text Box 47">
              <a:extLst>
                <a:ext uri="{FF2B5EF4-FFF2-40B4-BE49-F238E27FC236}">
                  <a16:creationId xmlns:a16="http://schemas.microsoft.com/office/drawing/2014/main" id="{AF4DE0FE-A823-649C-A154-C3952ABA7A2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81" y="2165"/>
              <a:ext cx="473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4" tIns="0" rIns="9144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0">
                  <a:latin typeface="Arial" panose="020B0604020202020204" pitchFamily="34" charset="0"/>
                </a:rPr>
                <a:t>Key differences between </a:t>
              </a:r>
              <a:r>
                <a:rPr lang="en-US" altLang="en-US" sz="2000">
                  <a:solidFill>
                    <a:schemeClr val="accent2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«include»</a:t>
              </a:r>
              <a:r>
                <a:rPr lang="en-US" altLang="en-US" sz="2000" b="0">
                  <a:latin typeface="Arial" panose="020B0604020202020204" pitchFamily="34" charset="0"/>
                  <a:cs typeface="Arial" panose="020B0604020202020204" pitchFamily="34" charset="0"/>
                </a:rPr>
                <a:t> and </a:t>
              </a:r>
              <a:r>
                <a:rPr lang="en-US" altLang="en-US" sz="2000">
                  <a:solidFill>
                    <a:schemeClr val="accent2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«extend»</a:t>
              </a:r>
              <a:r>
                <a:rPr lang="en-US" altLang="en-US" sz="2000" b="0">
                  <a:latin typeface="Arial" panose="020B0604020202020204" pitchFamily="34" charset="0"/>
                  <a:cs typeface="Arial" panose="020B0604020202020204" pitchFamily="34" charset="0"/>
                </a:rPr>
                <a:t> relationships</a:t>
              </a:r>
            </a:p>
          </p:txBody>
        </p:sp>
        <p:sp>
          <p:nvSpPr>
            <p:cNvPr id="24594" name="Text Box 50">
              <a:extLst>
                <a:ext uri="{FF2B5EF4-FFF2-40B4-BE49-F238E27FC236}">
                  <a16:creationId xmlns:a16="http://schemas.microsoft.com/office/drawing/2014/main" id="{7DAB6668-9324-6F15-E278-9B5338749C8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81" y="2758"/>
              <a:ext cx="1835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4" tIns="0" rIns="9144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latin typeface="Arial" panose="020B0604020202020204" pitchFamily="34" charset="0"/>
                </a:rPr>
                <a:t>Is this subroutine use case optional?</a:t>
              </a:r>
            </a:p>
          </p:txBody>
        </p:sp>
        <p:sp>
          <p:nvSpPr>
            <p:cNvPr id="24595" name="Text Box 51">
              <a:extLst>
                <a:ext uri="{FF2B5EF4-FFF2-40B4-BE49-F238E27FC236}">
                  <a16:creationId xmlns:a16="http://schemas.microsoft.com/office/drawing/2014/main" id="{8C08327D-90A9-0A9E-07F1-8E17F79AC94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81" y="3000"/>
              <a:ext cx="1688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4" tIns="0" rIns="9144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latin typeface="Arial" panose="020B0604020202020204" pitchFamily="34" charset="0"/>
                </a:rPr>
                <a:t>Is the base use case </a:t>
              </a:r>
              <a:br>
                <a:rPr lang="en-US" altLang="en-US" sz="1400" b="0">
                  <a:latin typeface="Arial" panose="020B0604020202020204" pitchFamily="34" charset="0"/>
                </a:rPr>
              </a:br>
              <a:r>
                <a:rPr lang="en-US" altLang="en-US" sz="1400" b="0">
                  <a:latin typeface="Arial" panose="020B0604020202020204" pitchFamily="34" charset="0"/>
                </a:rPr>
                <a:t>complete without this use case?</a:t>
              </a:r>
            </a:p>
          </p:txBody>
        </p:sp>
        <p:sp>
          <p:nvSpPr>
            <p:cNvPr id="24596" name="Text Box 52">
              <a:extLst>
                <a:ext uri="{FF2B5EF4-FFF2-40B4-BE49-F238E27FC236}">
                  <a16:creationId xmlns:a16="http://schemas.microsoft.com/office/drawing/2014/main" id="{E73708DA-6CDB-A16C-9BBC-5FF1C9C56AF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81" y="3376"/>
              <a:ext cx="2600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4" tIns="0" rIns="9144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latin typeface="Arial" panose="020B0604020202020204" pitchFamily="34" charset="0"/>
                </a:rPr>
                <a:t>Is the execution of subroutine use case conditional?</a:t>
              </a:r>
            </a:p>
          </p:txBody>
        </p:sp>
        <p:sp>
          <p:nvSpPr>
            <p:cNvPr id="24597" name="Text Box 53">
              <a:extLst>
                <a:ext uri="{FF2B5EF4-FFF2-40B4-BE49-F238E27FC236}">
                  <a16:creationId xmlns:a16="http://schemas.microsoft.com/office/drawing/2014/main" id="{0604B57E-F3E6-EA6B-D624-CC4ED035B82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81" y="3618"/>
              <a:ext cx="199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4" tIns="0" rIns="9144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latin typeface="Arial" panose="020B0604020202020204" pitchFamily="34" charset="0"/>
                </a:rPr>
                <a:t>Does this subroutine use case change the behavior of the base use case?</a:t>
              </a:r>
            </a:p>
          </p:txBody>
        </p:sp>
        <p:sp>
          <p:nvSpPr>
            <p:cNvPr id="24598" name="Text Box 48">
              <a:extLst>
                <a:ext uri="{FF2B5EF4-FFF2-40B4-BE49-F238E27FC236}">
                  <a16:creationId xmlns:a16="http://schemas.microsoft.com/office/drawing/2014/main" id="{230CADF0-7878-A7C2-223E-F006F7B2D0B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593" y="2460"/>
              <a:ext cx="117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4" tIns="0" rIns="9144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Arial" panose="020B0604020202020204" pitchFamily="34" charset="0"/>
                </a:rPr>
                <a:t>Included use case</a:t>
              </a:r>
            </a:p>
          </p:txBody>
        </p:sp>
        <p:sp>
          <p:nvSpPr>
            <p:cNvPr id="24599" name="Text Box 49">
              <a:extLst>
                <a:ext uri="{FF2B5EF4-FFF2-40B4-BE49-F238E27FC236}">
                  <a16:creationId xmlns:a16="http://schemas.microsoft.com/office/drawing/2014/main" id="{914C7E03-B080-1E0A-C37F-FCA58F7AC27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007" y="2460"/>
              <a:ext cx="126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4" tIns="0" rIns="9144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Arial" panose="020B0604020202020204" pitchFamily="34" charset="0"/>
                </a:rPr>
                <a:t>Extending use case</a:t>
              </a:r>
            </a:p>
          </p:txBody>
        </p:sp>
        <p:sp>
          <p:nvSpPr>
            <p:cNvPr id="24600" name="Text Box 54">
              <a:extLst>
                <a:ext uri="{FF2B5EF4-FFF2-40B4-BE49-F238E27FC236}">
                  <a16:creationId xmlns:a16="http://schemas.microsoft.com/office/drawing/2014/main" id="{51A72BBD-8202-842A-C24B-3737994A73E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081" y="2739"/>
              <a:ext cx="19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4" tIns="0" rIns="9144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Arial" panose="020B0604020202020204" pitchFamily="34" charset="0"/>
                </a:rPr>
                <a:t>No</a:t>
              </a:r>
            </a:p>
          </p:txBody>
        </p:sp>
        <p:sp>
          <p:nvSpPr>
            <p:cNvPr id="24601" name="Text Box 55">
              <a:extLst>
                <a:ext uri="{FF2B5EF4-FFF2-40B4-BE49-F238E27FC236}">
                  <a16:creationId xmlns:a16="http://schemas.microsoft.com/office/drawing/2014/main" id="{D930AF5F-59B9-6C3A-BE8B-503D9FF0E0A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511" y="2739"/>
              <a:ext cx="2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4" tIns="0" rIns="9144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Arial" panose="020B0604020202020204" pitchFamily="34" charset="0"/>
                </a:rPr>
                <a:t>Yes</a:t>
              </a:r>
            </a:p>
          </p:txBody>
        </p:sp>
        <p:sp>
          <p:nvSpPr>
            <p:cNvPr id="24602" name="Text Box 56">
              <a:extLst>
                <a:ext uri="{FF2B5EF4-FFF2-40B4-BE49-F238E27FC236}">
                  <a16:creationId xmlns:a16="http://schemas.microsoft.com/office/drawing/2014/main" id="{89380249-3132-7F9B-C4A8-63DE4538068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081" y="3048"/>
              <a:ext cx="19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4" tIns="0" rIns="9144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Arial" panose="020B0604020202020204" pitchFamily="34" charset="0"/>
                </a:rPr>
                <a:t>No</a:t>
              </a:r>
            </a:p>
          </p:txBody>
        </p:sp>
        <p:sp>
          <p:nvSpPr>
            <p:cNvPr id="24603" name="Text Box 57">
              <a:extLst>
                <a:ext uri="{FF2B5EF4-FFF2-40B4-BE49-F238E27FC236}">
                  <a16:creationId xmlns:a16="http://schemas.microsoft.com/office/drawing/2014/main" id="{64483A79-04D2-D615-C688-D0D37BC5E01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511" y="3047"/>
              <a:ext cx="2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4" tIns="0" rIns="9144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Arial" panose="020B0604020202020204" pitchFamily="34" charset="0"/>
                </a:rPr>
                <a:t>Yes</a:t>
              </a:r>
            </a:p>
          </p:txBody>
        </p:sp>
        <p:sp>
          <p:nvSpPr>
            <p:cNvPr id="24604" name="Text Box 58">
              <a:extLst>
                <a:ext uri="{FF2B5EF4-FFF2-40B4-BE49-F238E27FC236}">
                  <a16:creationId xmlns:a16="http://schemas.microsoft.com/office/drawing/2014/main" id="{6DE06C10-C835-3A83-0455-A0054899F20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081" y="3356"/>
              <a:ext cx="19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4" tIns="0" rIns="9144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Arial" panose="020B0604020202020204" pitchFamily="34" charset="0"/>
                </a:rPr>
                <a:t>No</a:t>
              </a:r>
            </a:p>
          </p:txBody>
        </p:sp>
        <p:sp>
          <p:nvSpPr>
            <p:cNvPr id="24605" name="Text Box 59">
              <a:extLst>
                <a:ext uri="{FF2B5EF4-FFF2-40B4-BE49-F238E27FC236}">
                  <a16:creationId xmlns:a16="http://schemas.microsoft.com/office/drawing/2014/main" id="{267FACCB-A3C7-C436-1508-47A8662AF97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511" y="3356"/>
              <a:ext cx="2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4" tIns="0" rIns="9144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Arial" panose="020B0604020202020204" pitchFamily="34" charset="0"/>
                </a:rPr>
                <a:t>Yes</a:t>
              </a:r>
            </a:p>
          </p:txBody>
        </p:sp>
        <p:sp>
          <p:nvSpPr>
            <p:cNvPr id="24606" name="Text Box 60">
              <a:extLst>
                <a:ext uri="{FF2B5EF4-FFF2-40B4-BE49-F238E27FC236}">
                  <a16:creationId xmlns:a16="http://schemas.microsoft.com/office/drawing/2014/main" id="{933C047E-09C2-7002-FF51-3D7625171EB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081" y="3666"/>
              <a:ext cx="19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4" tIns="0" rIns="9144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Arial" panose="020B0604020202020204" pitchFamily="34" charset="0"/>
                </a:rPr>
                <a:t>No</a:t>
              </a:r>
            </a:p>
          </p:txBody>
        </p:sp>
        <p:sp>
          <p:nvSpPr>
            <p:cNvPr id="24607" name="Text Box 61">
              <a:extLst>
                <a:ext uri="{FF2B5EF4-FFF2-40B4-BE49-F238E27FC236}">
                  <a16:creationId xmlns:a16="http://schemas.microsoft.com/office/drawing/2014/main" id="{87D3808B-EA8D-8599-C67B-9E6DFD57BD0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511" y="3666"/>
              <a:ext cx="2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4" tIns="0" rIns="9144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Arial" panose="020B0604020202020204" pitchFamily="34" charset="0"/>
                </a:rPr>
                <a:t>Yes</a:t>
              </a:r>
            </a:p>
          </p:txBody>
        </p:sp>
        <p:sp>
          <p:nvSpPr>
            <p:cNvPr id="24608" name="Line 67">
              <a:extLst>
                <a:ext uri="{FF2B5EF4-FFF2-40B4-BE49-F238E27FC236}">
                  <a16:creationId xmlns:a16="http://schemas.microsoft.com/office/drawing/2014/main" id="{8170D08A-44C5-A627-AC4D-AD085CC961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" y="2688"/>
              <a:ext cx="489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9" name="Line 68">
              <a:extLst>
                <a:ext uri="{FF2B5EF4-FFF2-40B4-BE49-F238E27FC236}">
                  <a16:creationId xmlns:a16="http://schemas.microsoft.com/office/drawing/2014/main" id="{152FC2FF-929D-EF1B-FE2B-F632BAF1E6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" y="2947"/>
              <a:ext cx="4894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0" name="Line 69">
              <a:extLst>
                <a:ext uri="{FF2B5EF4-FFF2-40B4-BE49-F238E27FC236}">
                  <a16:creationId xmlns:a16="http://schemas.microsoft.com/office/drawing/2014/main" id="{E7917314-3FF5-9D06-7D0D-79AC2B179A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" y="3324"/>
              <a:ext cx="4894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1" name="Line 70">
              <a:extLst>
                <a:ext uri="{FF2B5EF4-FFF2-40B4-BE49-F238E27FC236}">
                  <a16:creationId xmlns:a16="http://schemas.microsoft.com/office/drawing/2014/main" id="{8564D751-AD6A-3410-65C2-3D91C21CC8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" y="3568"/>
              <a:ext cx="4894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2" name="Line 71">
              <a:extLst>
                <a:ext uri="{FF2B5EF4-FFF2-40B4-BE49-F238E27FC236}">
                  <a16:creationId xmlns:a16="http://schemas.microsoft.com/office/drawing/2014/main" id="{3FB3D9F8-1017-7EC3-7030-AD20EA463E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" y="3956"/>
              <a:ext cx="489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591" name="Text Box 73">
            <a:extLst>
              <a:ext uri="{FF2B5EF4-FFF2-40B4-BE49-F238E27FC236}">
                <a16:creationId xmlns:a16="http://schemas.microsoft.com/office/drawing/2014/main" id="{6E5ACCDB-1D60-C021-3418-F67BBCFBC2F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95288" y="6396038"/>
            <a:ext cx="74707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Arial" panose="020B0604020202020204" pitchFamily="34" charset="0"/>
              </a:rPr>
              <a:t>[ Source: Robert Maksimchuk &amp; Eric Naiburg: </a:t>
            </a:r>
            <a:r>
              <a:rPr lang="en-US" altLang="en-US" sz="1400" i="1">
                <a:latin typeface="Arial" panose="020B0604020202020204" pitchFamily="34" charset="0"/>
              </a:rPr>
              <a:t>UML for Mere Mortals</a:t>
            </a:r>
            <a:r>
              <a:rPr lang="en-US" altLang="en-US" sz="1400" b="0">
                <a:latin typeface="Arial" panose="020B0604020202020204" pitchFamily="34" charset="0"/>
              </a:rPr>
              <a:t>, Addison-Wesley, 2005. ]</a:t>
            </a: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D45E41B-AE98-681E-4E17-0F897124D3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Login Use Case?</a:t>
            </a:r>
          </a:p>
        </p:txBody>
      </p:sp>
      <p:grpSp>
        <p:nvGrpSpPr>
          <p:cNvPr id="26627" name="Group 98">
            <a:extLst>
              <a:ext uri="{FF2B5EF4-FFF2-40B4-BE49-F238E27FC236}">
                <a16:creationId xmlns:a16="http://schemas.microsoft.com/office/drawing/2014/main" id="{367F6356-EF8B-4619-DBFF-10E8BE948BF6}"/>
              </a:ext>
            </a:extLst>
          </p:cNvPr>
          <p:cNvGrpSpPr>
            <a:grpSpLocks/>
          </p:cNvGrpSpPr>
          <p:nvPr/>
        </p:nvGrpSpPr>
        <p:grpSpPr bwMode="auto">
          <a:xfrm>
            <a:off x="3967163" y="3951288"/>
            <a:ext cx="4475162" cy="1101725"/>
            <a:chOff x="2726" y="2007"/>
            <a:chExt cx="2819" cy="694"/>
          </a:xfrm>
        </p:grpSpPr>
        <p:cxnSp>
          <p:nvCxnSpPr>
            <p:cNvPr id="26644" name="AutoShape 66">
              <a:extLst>
                <a:ext uri="{FF2B5EF4-FFF2-40B4-BE49-F238E27FC236}">
                  <a16:creationId xmlns:a16="http://schemas.microsoft.com/office/drawing/2014/main" id="{4938D9B5-7448-3C50-A807-49796C662695}"/>
                </a:ext>
              </a:extLst>
            </p:cNvPr>
            <p:cNvCxnSpPr>
              <a:cxnSpLocks noChangeAspect="1" noChangeShapeType="1"/>
              <a:stCxn id="26649" idx="6"/>
              <a:endCxn id="26647" idx="1"/>
            </p:cNvCxnSpPr>
            <p:nvPr/>
          </p:nvCxnSpPr>
          <p:spPr bwMode="auto">
            <a:xfrm flipV="1">
              <a:off x="4575" y="2424"/>
              <a:ext cx="354" cy="148"/>
            </a:xfrm>
            <a:prstGeom prst="straightConnector1">
              <a:avLst/>
            </a:prstGeom>
            <a:noFill/>
            <a:ln w="6350">
              <a:solidFill>
                <a:schemeClr val="tx1"/>
              </a:solidFill>
              <a:prstDash val="dash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645" name="AutoShape 70">
              <a:extLst>
                <a:ext uri="{FF2B5EF4-FFF2-40B4-BE49-F238E27FC236}">
                  <a16:creationId xmlns:a16="http://schemas.microsoft.com/office/drawing/2014/main" id="{1F5D743C-508A-79D9-494A-3A06CD16DB41}"/>
                </a:ext>
              </a:extLst>
            </p:cNvPr>
            <p:cNvCxnSpPr>
              <a:cxnSpLocks noChangeAspect="1" noChangeShapeType="1"/>
              <a:stCxn id="26648" idx="6"/>
              <a:endCxn id="26646" idx="1"/>
            </p:cNvCxnSpPr>
            <p:nvPr/>
          </p:nvCxnSpPr>
          <p:spPr bwMode="auto">
            <a:xfrm>
              <a:off x="4482" y="2134"/>
              <a:ext cx="447" cy="138"/>
            </a:xfrm>
            <a:prstGeom prst="straightConnector1">
              <a:avLst/>
            </a:prstGeom>
            <a:noFill/>
            <a:ln w="6350">
              <a:solidFill>
                <a:schemeClr val="tx1"/>
              </a:solidFill>
              <a:prstDash val="dash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6646" name="Freeform 93">
              <a:extLst>
                <a:ext uri="{FF2B5EF4-FFF2-40B4-BE49-F238E27FC236}">
                  <a16:creationId xmlns:a16="http://schemas.microsoft.com/office/drawing/2014/main" id="{5E320F20-5A89-3A51-932A-5E2FD7172A02}"/>
                </a:ext>
              </a:extLst>
            </p:cNvPr>
            <p:cNvSpPr>
              <a:spLocks noChangeAspect="1"/>
            </p:cNvSpPr>
            <p:nvPr/>
          </p:nvSpPr>
          <p:spPr bwMode="auto">
            <a:xfrm rot="-9600000" flipH="1" flipV="1">
              <a:off x="4855" y="2220"/>
              <a:ext cx="77" cy="78"/>
            </a:xfrm>
            <a:custGeom>
              <a:avLst/>
              <a:gdLst>
                <a:gd name="T0" fmla="*/ 0 w 51"/>
                <a:gd name="T1" fmla="*/ 0 h 53"/>
                <a:gd name="T2" fmla="*/ 24533 w 51"/>
                <a:gd name="T3" fmla="*/ 8973 h 53"/>
                <a:gd name="T4" fmla="*/ 0 w 51"/>
                <a:gd name="T5" fmla="*/ 17447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53">
                  <a:moveTo>
                    <a:pt x="0" y="0"/>
                  </a:moveTo>
                  <a:lnTo>
                    <a:pt x="51" y="27"/>
                  </a:lnTo>
                  <a:lnTo>
                    <a:pt x="0" y="53"/>
                  </a:lnTo>
                </a:path>
              </a:pathLst>
            </a:custGeom>
            <a:noFill/>
            <a:ln w="63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7" name="Freeform 94">
              <a:extLst>
                <a:ext uri="{FF2B5EF4-FFF2-40B4-BE49-F238E27FC236}">
                  <a16:creationId xmlns:a16="http://schemas.microsoft.com/office/drawing/2014/main" id="{D80D80B9-0728-13CE-5E16-22BCDB0E4EDA}"/>
                </a:ext>
              </a:extLst>
            </p:cNvPr>
            <p:cNvSpPr>
              <a:spLocks noChangeAspect="1"/>
            </p:cNvSpPr>
            <p:nvPr/>
          </p:nvSpPr>
          <p:spPr bwMode="auto">
            <a:xfrm rot="9600000" flipH="1">
              <a:off x="4855" y="2400"/>
              <a:ext cx="77" cy="78"/>
            </a:xfrm>
            <a:custGeom>
              <a:avLst/>
              <a:gdLst>
                <a:gd name="T0" fmla="*/ 0 w 51"/>
                <a:gd name="T1" fmla="*/ 0 h 53"/>
                <a:gd name="T2" fmla="*/ 24533 w 51"/>
                <a:gd name="T3" fmla="*/ 8973 h 53"/>
                <a:gd name="T4" fmla="*/ 0 w 51"/>
                <a:gd name="T5" fmla="*/ 17447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53">
                  <a:moveTo>
                    <a:pt x="0" y="0"/>
                  </a:moveTo>
                  <a:lnTo>
                    <a:pt x="51" y="27"/>
                  </a:lnTo>
                  <a:lnTo>
                    <a:pt x="0" y="53"/>
                  </a:lnTo>
                </a:path>
              </a:pathLst>
            </a:custGeom>
            <a:noFill/>
            <a:ln w="63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8" name="Oval 55">
              <a:extLst>
                <a:ext uri="{FF2B5EF4-FFF2-40B4-BE49-F238E27FC236}">
                  <a16:creationId xmlns:a16="http://schemas.microsoft.com/office/drawing/2014/main" id="{B0E58B71-EBEC-30AE-6AF1-DFF2CC76D3A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53" y="2013"/>
              <a:ext cx="1129" cy="241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latin typeface="Arial" panose="020B0604020202020204" pitchFamily="34" charset="0"/>
                </a:rPr>
                <a:t>AddUser</a:t>
              </a:r>
            </a:p>
          </p:txBody>
        </p:sp>
        <p:sp>
          <p:nvSpPr>
            <p:cNvPr id="26649" name="Oval 56">
              <a:extLst>
                <a:ext uri="{FF2B5EF4-FFF2-40B4-BE49-F238E27FC236}">
                  <a16:creationId xmlns:a16="http://schemas.microsoft.com/office/drawing/2014/main" id="{9E61C922-A1F4-1625-32E4-5F1997ABB4C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0" y="2442"/>
              <a:ext cx="1315" cy="259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latin typeface="Arial" panose="020B0604020202020204" pitchFamily="34" charset="0"/>
                </a:rPr>
                <a:t>SetDevicePrefs</a:t>
              </a:r>
            </a:p>
          </p:txBody>
        </p:sp>
        <p:sp>
          <p:nvSpPr>
            <p:cNvPr id="26650" name="Freeform 57">
              <a:extLst>
                <a:ext uri="{FF2B5EF4-FFF2-40B4-BE49-F238E27FC236}">
                  <a16:creationId xmlns:a16="http://schemas.microsoft.com/office/drawing/2014/main" id="{7BC49851-2B78-207A-8B6C-570F42A4DC7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999" y="2256"/>
              <a:ext cx="28" cy="73"/>
            </a:xfrm>
            <a:custGeom>
              <a:avLst/>
              <a:gdLst>
                <a:gd name="T0" fmla="*/ 0 w 33"/>
                <a:gd name="T1" fmla="*/ 0 h 83"/>
                <a:gd name="T2" fmla="*/ 3 w 33"/>
                <a:gd name="T3" fmla="*/ 4 h 83"/>
                <a:gd name="T4" fmla="*/ 3 w 33"/>
                <a:gd name="T5" fmla="*/ 4 h 83"/>
                <a:gd name="T6" fmla="*/ 3 w 33"/>
                <a:gd name="T7" fmla="*/ 8 h 83"/>
                <a:gd name="T8" fmla="*/ 3 w 33"/>
                <a:gd name="T9" fmla="*/ 11 h 83"/>
                <a:gd name="T10" fmla="*/ 3 w 33"/>
                <a:gd name="T11" fmla="*/ 12 h 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83">
                  <a:moveTo>
                    <a:pt x="0" y="0"/>
                  </a:moveTo>
                  <a:lnTo>
                    <a:pt x="18" y="9"/>
                  </a:lnTo>
                  <a:lnTo>
                    <a:pt x="32" y="24"/>
                  </a:lnTo>
                  <a:lnTo>
                    <a:pt x="33" y="50"/>
                  </a:lnTo>
                  <a:lnTo>
                    <a:pt x="27" y="71"/>
                  </a:lnTo>
                  <a:lnTo>
                    <a:pt x="8" y="83"/>
                  </a:lnTo>
                </a:path>
              </a:pathLst>
            </a:custGeom>
            <a:noFill/>
            <a:ln w="3175" cmpd="sng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6651" name="Group 58">
              <a:extLst>
                <a:ext uri="{FF2B5EF4-FFF2-40B4-BE49-F238E27FC236}">
                  <a16:creationId xmlns:a16="http://schemas.microsoft.com/office/drawing/2014/main" id="{FFFA8BD3-D93C-A054-B8AC-307CC7117CC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835" y="2092"/>
              <a:ext cx="209" cy="368"/>
              <a:chOff x="2295" y="8577"/>
              <a:chExt cx="600" cy="1053"/>
            </a:xfrm>
          </p:grpSpPr>
          <p:sp>
            <p:nvSpPr>
              <p:cNvPr id="26658" name="Oval 59">
                <a:extLst>
                  <a:ext uri="{FF2B5EF4-FFF2-40B4-BE49-F238E27FC236}">
                    <a16:creationId xmlns:a16="http://schemas.microsoft.com/office/drawing/2014/main" id="{1C19BBF7-EF27-EAE2-4C21-77BBAD92F1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13" y="8577"/>
                <a:ext cx="360" cy="354"/>
              </a:xfrm>
              <a:prstGeom prst="ellips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6659" name="Line 60">
                <a:extLst>
                  <a:ext uri="{FF2B5EF4-FFF2-40B4-BE49-F238E27FC236}">
                    <a16:creationId xmlns:a16="http://schemas.microsoft.com/office/drawing/2014/main" id="{BB6A258A-A40A-F9B5-5122-A318E18764E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595" y="8943"/>
                <a:ext cx="0" cy="392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60" name="Line 61">
                <a:extLst>
                  <a:ext uri="{FF2B5EF4-FFF2-40B4-BE49-F238E27FC236}">
                    <a16:creationId xmlns:a16="http://schemas.microsoft.com/office/drawing/2014/main" id="{D85E51EF-451D-C20D-8341-6108D85193C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-5400000">
                <a:off x="2595" y="8939"/>
                <a:ext cx="0" cy="40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61" name="Freeform 62">
                <a:extLst>
                  <a:ext uri="{FF2B5EF4-FFF2-40B4-BE49-F238E27FC236}">
                    <a16:creationId xmlns:a16="http://schemas.microsoft.com/office/drawing/2014/main" id="{1E033AF3-544E-7F5B-8236-C31FDCE1E5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295" y="9335"/>
                <a:ext cx="600" cy="295"/>
              </a:xfrm>
              <a:custGeom>
                <a:avLst/>
                <a:gdLst>
                  <a:gd name="T0" fmla="*/ 0 w 288"/>
                  <a:gd name="T1" fmla="*/ 6758198 h 144"/>
                  <a:gd name="T2" fmla="*/ 8705329 w 288"/>
                  <a:gd name="T3" fmla="*/ 0 h 144"/>
                  <a:gd name="T4" fmla="*/ 17407813 w 288"/>
                  <a:gd name="T5" fmla="*/ 6758198 h 14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8" h="144">
                    <a:moveTo>
                      <a:pt x="0" y="144"/>
                    </a:moveTo>
                    <a:lnTo>
                      <a:pt x="144" y="0"/>
                    </a:lnTo>
                    <a:lnTo>
                      <a:pt x="288" y="144"/>
                    </a:lnTo>
                  </a:path>
                </a:pathLst>
              </a:custGeom>
              <a:noFill/>
              <a:ln w="6350" cmpd="sng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6652" name="Text Box 63">
              <a:extLst>
                <a:ext uri="{FF2B5EF4-FFF2-40B4-BE49-F238E27FC236}">
                  <a16:creationId xmlns:a16="http://schemas.microsoft.com/office/drawing/2014/main" id="{82D9BE84-4070-9C59-A89F-3D351A8E2E1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726" y="2475"/>
              <a:ext cx="447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4" tIns="0" rIns="9144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latin typeface="Arial" panose="020B0604020202020204" pitchFamily="34" charset="0"/>
                </a:rPr>
                <a:t>Landlord</a:t>
              </a:r>
            </a:p>
          </p:txBody>
        </p:sp>
        <p:cxnSp>
          <p:nvCxnSpPr>
            <p:cNvPr id="26653" name="AutoShape 64">
              <a:extLst>
                <a:ext uri="{FF2B5EF4-FFF2-40B4-BE49-F238E27FC236}">
                  <a16:creationId xmlns:a16="http://schemas.microsoft.com/office/drawing/2014/main" id="{0FA80260-9CC9-0697-0596-D9D0D5F7B0F9}"/>
                </a:ext>
              </a:extLst>
            </p:cNvPr>
            <p:cNvCxnSpPr>
              <a:cxnSpLocks noChangeAspect="1" noChangeShapeType="1"/>
              <a:stCxn id="26650" idx="2"/>
              <a:endCxn id="26648" idx="2"/>
            </p:cNvCxnSpPr>
            <p:nvPr/>
          </p:nvCxnSpPr>
          <p:spPr bwMode="auto">
            <a:xfrm flipV="1">
              <a:off x="3026" y="2134"/>
              <a:ext cx="327" cy="143"/>
            </a:xfrm>
            <a:prstGeom prst="straightConnector1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654" name="AutoShape 65">
              <a:extLst>
                <a:ext uri="{FF2B5EF4-FFF2-40B4-BE49-F238E27FC236}">
                  <a16:creationId xmlns:a16="http://schemas.microsoft.com/office/drawing/2014/main" id="{00213104-1C56-BAAF-CB1B-C1800227B350}"/>
                </a:ext>
              </a:extLst>
            </p:cNvPr>
            <p:cNvCxnSpPr>
              <a:cxnSpLocks noChangeAspect="1" noChangeShapeType="1"/>
              <a:stCxn id="26650" idx="3"/>
              <a:endCxn id="26649" idx="2"/>
            </p:cNvCxnSpPr>
            <p:nvPr/>
          </p:nvCxnSpPr>
          <p:spPr bwMode="auto">
            <a:xfrm>
              <a:off x="3027" y="2301"/>
              <a:ext cx="233" cy="271"/>
            </a:xfrm>
            <a:prstGeom prst="straightConnector1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6655" name="Text Box 67">
              <a:extLst>
                <a:ext uri="{FF2B5EF4-FFF2-40B4-BE49-F238E27FC236}">
                  <a16:creationId xmlns:a16="http://schemas.microsoft.com/office/drawing/2014/main" id="{1C54DFD4-4B6B-53DA-6302-9A30076BCB3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 rot="1020000">
              <a:off x="4488" y="2007"/>
              <a:ext cx="420" cy="1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4" tIns="0" rIns="9144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latin typeface="Arial" panose="020B0604020202020204" pitchFamily="34" charset="0"/>
                  <a:cs typeface="Arial" panose="020B0604020202020204" pitchFamily="34" charset="0"/>
                  <a:sym typeface="MT Extra" panose="05050102010205020202" pitchFamily="18" charset="2"/>
                </a:rPr>
                <a:t>«</a:t>
              </a:r>
              <a:r>
                <a:rPr lang="en-US" altLang="en-US" sz="1200" b="0">
                  <a:latin typeface="Arial" panose="020B0604020202020204" pitchFamily="34" charset="0"/>
                </a:rPr>
                <a:t>include</a:t>
              </a:r>
              <a:r>
                <a:rPr lang="en-US" altLang="en-US" sz="1200" b="0">
                  <a:latin typeface="Arial" panose="020B0604020202020204" pitchFamily="34" charset="0"/>
                  <a:cs typeface="Arial" panose="020B0604020202020204" pitchFamily="34" charset="0"/>
                </a:rPr>
                <a:t>»</a:t>
              </a:r>
            </a:p>
          </p:txBody>
        </p:sp>
        <p:sp>
          <p:nvSpPr>
            <p:cNvPr id="26656" name="Text Box 68">
              <a:extLst>
                <a:ext uri="{FF2B5EF4-FFF2-40B4-BE49-F238E27FC236}">
                  <a16:creationId xmlns:a16="http://schemas.microsoft.com/office/drawing/2014/main" id="{060368A5-E230-690D-9445-34CA2F20918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 rot="-1200000">
              <a:off x="4533" y="2511"/>
              <a:ext cx="420" cy="1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4" tIns="0" rIns="9144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latin typeface="Arial" panose="020B0604020202020204" pitchFamily="34" charset="0"/>
                  <a:cs typeface="Arial" panose="020B0604020202020204" pitchFamily="34" charset="0"/>
                  <a:sym typeface="MT Extra" panose="05050102010205020202" pitchFamily="18" charset="2"/>
                </a:rPr>
                <a:t>«</a:t>
              </a:r>
              <a:r>
                <a:rPr lang="en-US" altLang="en-US" sz="1200" b="0">
                  <a:latin typeface="Arial" panose="020B0604020202020204" pitchFamily="34" charset="0"/>
                </a:rPr>
                <a:t>include</a:t>
              </a:r>
              <a:r>
                <a:rPr lang="en-US" altLang="en-US" sz="1200" b="0">
                  <a:latin typeface="Arial" panose="020B0604020202020204" pitchFamily="34" charset="0"/>
                  <a:cs typeface="Arial" panose="020B0604020202020204" pitchFamily="34" charset="0"/>
                </a:rPr>
                <a:t>»</a:t>
              </a:r>
            </a:p>
          </p:txBody>
        </p:sp>
        <p:sp>
          <p:nvSpPr>
            <p:cNvPr id="26657" name="Oval 69">
              <a:extLst>
                <a:ext uri="{FF2B5EF4-FFF2-40B4-BE49-F238E27FC236}">
                  <a16:creationId xmlns:a16="http://schemas.microsoft.com/office/drawing/2014/main" id="{C96B3373-E39F-F031-3444-BF493A1709A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42" y="2245"/>
              <a:ext cx="703" cy="207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latin typeface="Arial" panose="020B0604020202020204" pitchFamily="34" charset="0"/>
                </a:rPr>
                <a:t>Login</a:t>
              </a:r>
            </a:p>
          </p:txBody>
        </p:sp>
      </p:grpSp>
      <p:grpSp>
        <p:nvGrpSpPr>
          <p:cNvPr id="26628" name="Group 97">
            <a:extLst>
              <a:ext uri="{FF2B5EF4-FFF2-40B4-BE49-F238E27FC236}">
                <a16:creationId xmlns:a16="http://schemas.microsoft.com/office/drawing/2014/main" id="{597C1F1B-7E3E-6C64-190F-DB61B424B4DF}"/>
              </a:ext>
            </a:extLst>
          </p:cNvPr>
          <p:cNvGrpSpPr>
            <a:grpSpLocks/>
          </p:cNvGrpSpPr>
          <p:nvPr/>
        </p:nvGrpSpPr>
        <p:grpSpPr bwMode="auto">
          <a:xfrm>
            <a:off x="517525" y="3571875"/>
            <a:ext cx="2987675" cy="1481138"/>
            <a:chOff x="553" y="1768"/>
            <a:chExt cx="1882" cy="933"/>
          </a:xfrm>
        </p:grpSpPr>
        <p:sp>
          <p:nvSpPr>
            <p:cNvPr id="26631" name="Freeform 30">
              <a:extLst>
                <a:ext uri="{FF2B5EF4-FFF2-40B4-BE49-F238E27FC236}">
                  <a16:creationId xmlns:a16="http://schemas.microsoft.com/office/drawing/2014/main" id="{73B6BE6B-A259-1180-96EE-A667270C7D3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26" y="2125"/>
              <a:ext cx="28" cy="74"/>
            </a:xfrm>
            <a:custGeom>
              <a:avLst/>
              <a:gdLst>
                <a:gd name="T0" fmla="*/ 0 w 33"/>
                <a:gd name="T1" fmla="*/ 0 h 83"/>
                <a:gd name="T2" fmla="*/ 3 w 33"/>
                <a:gd name="T3" fmla="*/ 4 h 83"/>
                <a:gd name="T4" fmla="*/ 3 w 33"/>
                <a:gd name="T5" fmla="*/ 4 h 83"/>
                <a:gd name="T6" fmla="*/ 3 w 33"/>
                <a:gd name="T7" fmla="*/ 10 h 83"/>
                <a:gd name="T8" fmla="*/ 3 w 33"/>
                <a:gd name="T9" fmla="*/ 13 h 83"/>
                <a:gd name="T10" fmla="*/ 3 w 33"/>
                <a:gd name="T11" fmla="*/ 15 h 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83">
                  <a:moveTo>
                    <a:pt x="0" y="0"/>
                  </a:moveTo>
                  <a:lnTo>
                    <a:pt x="18" y="9"/>
                  </a:lnTo>
                  <a:lnTo>
                    <a:pt x="32" y="24"/>
                  </a:lnTo>
                  <a:lnTo>
                    <a:pt x="33" y="50"/>
                  </a:lnTo>
                  <a:lnTo>
                    <a:pt x="27" y="71"/>
                  </a:lnTo>
                  <a:lnTo>
                    <a:pt x="8" y="83"/>
                  </a:lnTo>
                </a:path>
              </a:pathLst>
            </a:custGeom>
            <a:noFill/>
            <a:ln w="3175" cmpd="sng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6632" name="Group 33">
              <a:extLst>
                <a:ext uri="{FF2B5EF4-FFF2-40B4-BE49-F238E27FC236}">
                  <a16:creationId xmlns:a16="http://schemas.microsoft.com/office/drawing/2014/main" id="{B476E36D-CC13-D4DE-7F7C-D32256FA0EB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62" y="1962"/>
              <a:ext cx="210" cy="369"/>
              <a:chOff x="2295" y="8577"/>
              <a:chExt cx="600" cy="1053"/>
            </a:xfrm>
          </p:grpSpPr>
          <p:sp>
            <p:nvSpPr>
              <p:cNvPr id="26640" name="Oval 34">
                <a:extLst>
                  <a:ext uri="{FF2B5EF4-FFF2-40B4-BE49-F238E27FC236}">
                    <a16:creationId xmlns:a16="http://schemas.microsoft.com/office/drawing/2014/main" id="{9C444A22-AD48-555A-4A25-EEA1F4651C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13" y="8577"/>
                <a:ext cx="360" cy="354"/>
              </a:xfrm>
              <a:prstGeom prst="ellips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6641" name="Line 35">
                <a:extLst>
                  <a:ext uri="{FF2B5EF4-FFF2-40B4-BE49-F238E27FC236}">
                    <a16:creationId xmlns:a16="http://schemas.microsoft.com/office/drawing/2014/main" id="{EEFB8AC1-A8F3-1458-386A-D8E9C13793B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595" y="8943"/>
                <a:ext cx="0" cy="392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42" name="Line 36">
                <a:extLst>
                  <a:ext uri="{FF2B5EF4-FFF2-40B4-BE49-F238E27FC236}">
                    <a16:creationId xmlns:a16="http://schemas.microsoft.com/office/drawing/2014/main" id="{E06D22BE-5883-1EE3-9081-644C453D3BB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-5400000">
                <a:off x="2595" y="8939"/>
                <a:ext cx="0" cy="40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43" name="Freeform 37">
                <a:extLst>
                  <a:ext uri="{FF2B5EF4-FFF2-40B4-BE49-F238E27FC236}">
                    <a16:creationId xmlns:a16="http://schemas.microsoft.com/office/drawing/2014/main" id="{9410D9C5-1C66-DB04-393E-3BEB0A881D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295" y="9335"/>
                <a:ext cx="600" cy="295"/>
              </a:xfrm>
              <a:custGeom>
                <a:avLst/>
                <a:gdLst>
                  <a:gd name="T0" fmla="*/ 0 w 288"/>
                  <a:gd name="T1" fmla="*/ 6758198 h 144"/>
                  <a:gd name="T2" fmla="*/ 8705329 w 288"/>
                  <a:gd name="T3" fmla="*/ 0 h 144"/>
                  <a:gd name="T4" fmla="*/ 17407813 w 288"/>
                  <a:gd name="T5" fmla="*/ 6758198 h 14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8" h="144">
                    <a:moveTo>
                      <a:pt x="0" y="144"/>
                    </a:moveTo>
                    <a:lnTo>
                      <a:pt x="144" y="0"/>
                    </a:lnTo>
                    <a:lnTo>
                      <a:pt x="288" y="144"/>
                    </a:lnTo>
                  </a:path>
                </a:pathLst>
              </a:custGeom>
              <a:noFill/>
              <a:ln w="6350" cmpd="sng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6633" name="Text Box 38">
              <a:extLst>
                <a:ext uri="{FF2B5EF4-FFF2-40B4-BE49-F238E27FC236}">
                  <a16:creationId xmlns:a16="http://schemas.microsoft.com/office/drawing/2014/main" id="{9E492924-284F-9AF1-650B-C445D5DEF2E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53" y="2346"/>
              <a:ext cx="447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4" tIns="0" rIns="9144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latin typeface="Arial" panose="020B0604020202020204" pitchFamily="34" charset="0"/>
                </a:rPr>
                <a:t>Landlord</a:t>
              </a:r>
            </a:p>
          </p:txBody>
        </p:sp>
        <p:cxnSp>
          <p:nvCxnSpPr>
            <p:cNvPr id="26634" name="AutoShape 39">
              <a:extLst>
                <a:ext uri="{FF2B5EF4-FFF2-40B4-BE49-F238E27FC236}">
                  <a16:creationId xmlns:a16="http://schemas.microsoft.com/office/drawing/2014/main" id="{2A6610AD-3B6A-8E7E-DD7A-BFFACCEB1FE2}"/>
                </a:ext>
              </a:extLst>
            </p:cNvPr>
            <p:cNvCxnSpPr>
              <a:cxnSpLocks noChangeAspect="1" noChangeShapeType="1"/>
              <a:stCxn id="26631" idx="3"/>
              <a:endCxn id="26636" idx="2"/>
            </p:cNvCxnSpPr>
            <p:nvPr/>
          </p:nvCxnSpPr>
          <p:spPr bwMode="auto">
            <a:xfrm>
              <a:off x="854" y="2170"/>
              <a:ext cx="338" cy="39"/>
            </a:xfrm>
            <a:prstGeom prst="straightConnector1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635" name="AutoShape 40">
              <a:extLst>
                <a:ext uri="{FF2B5EF4-FFF2-40B4-BE49-F238E27FC236}">
                  <a16:creationId xmlns:a16="http://schemas.microsoft.com/office/drawing/2014/main" id="{D4EE763D-218A-452D-E7C1-A6510752D8D3}"/>
                </a:ext>
              </a:extLst>
            </p:cNvPr>
            <p:cNvCxnSpPr>
              <a:cxnSpLocks noChangeAspect="1" noChangeShapeType="1"/>
              <a:stCxn id="26631" idx="4"/>
              <a:endCxn id="26637" idx="2"/>
            </p:cNvCxnSpPr>
            <p:nvPr/>
          </p:nvCxnSpPr>
          <p:spPr bwMode="auto">
            <a:xfrm>
              <a:off x="850" y="2188"/>
              <a:ext cx="273" cy="384"/>
            </a:xfrm>
            <a:prstGeom prst="straightConnector1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6636" name="Oval 31">
              <a:extLst>
                <a:ext uri="{FF2B5EF4-FFF2-40B4-BE49-F238E27FC236}">
                  <a16:creationId xmlns:a16="http://schemas.microsoft.com/office/drawing/2014/main" id="{FB4A9E45-A70E-3421-F582-5542EEA5844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92" y="2088"/>
              <a:ext cx="1129" cy="241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latin typeface="Arial" panose="020B0604020202020204" pitchFamily="34" charset="0"/>
                </a:rPr>
                <a:t>AddUser</a:t>
              </a:r>
            </a:p>
          </p:txBody>
        </p:sp>
        <p:sp>
          <p:nvSpPr>
            <p:cNvPr id="26637" name="Oval 32">
              <a:extLst>
                <a:ext uri="{FF2B5EF4-FFF2-40B4-BE49-F238E27FC236}">
                  <a16:creationId xmlns:a16="http://schemas.microsoft.com/office/drawing/2014/main" id="{35A385F6-BC25-F974-D26C-E5D66F021B3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23" y="2442"/>
              <a:ext cx="1312" cy="259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latin typeface="Arial" panose="020B0604020202020204" pitchFamily="34" charset="0"/>
                </a:rPr>
                <a:t>SetDevicePrefs</a:t>
              </a:r>
            </a:p>
          </p:txBody>
        </p:sp>
        <p:sp>
          <p:nvSpPr>
            <p:cNvPr id="26638" name="Oval 48">
              <a:extLst>
                <a:ext uri="{FF2B5EF4-FFF2-40B4-BE49-F238E27FC236}">
                  <a16:creationId xmlns:a16="http://schemas.microsoft.com/office/drawing/2014/main" id="{D504323E-CF8A-FA39-38EB-7655FC013A4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56" y="1768"/>
              <a:ext cx="804" cy="207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latin typeface="Arial" panose="020B0604020202020204" pitchFamily="34" charset="0"/>
                </a:rPr>
                <a:t>Login</a:t>
              </a:r>
            </a:p>
          </p:txBody>
        </p:sp>
        <p:cxnSp>
          <p:nvCxnSpPr>
            <p:cNvPr id="26639" name="AutoShape 72">
              <a:extLst>
                <a:ext uri="{FF2B5EF4-FFF2-40B4-BE49-F238E27FC236}">
                  <a16:creationId xmlns:a16="http://schemas.microsoft.com/office/drawing/2014/main" id="{C78DA400-A131-3619-4BF1-59A080D598C0}"/>
                </a:ext>
              </a:extLst>
            </p:cNvPr>
            <p:cNvCxnSpPr>
              <a:cxnSpLocks noChangeAspect="1" noChangeShapeType="1"/>
              <a:stCxn id="26631" idx="2"/>
              <a:endCxn id="26638" idx="2"/>
            </p:cNvCxnSpPr>
            <p:nvPr/>
          </p:nvCxnSpPr>
          <p:spPr bwMode="auto">
            <a:xfrm flipV="1">
              <a:off x="853" y="1872"/>
              <a:ext cx="403" cy="274"/>
            </a:xfrm>
            <a:prstGeom prst="straightConnector1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6629" name="Text Box 80">
            <a:extLst>
              <a:ext uri="{FF2B5EF4-FFF2-40B4-BE49-F238E27FC236}">
                <a16:creationId xmlns:a16="http://schemas.microsoft.com/office/drawing/2014/main" id="{C2B57683-C495-571C-ECCA-B4C5F755E2C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60413" y="2697163"/>
            <a:ext cx="5905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BAD:</a:t>
            </a:r>
          </a:p>
        </p:txBody>
      </p:sp>
      <p:sp>
        <p:nvSpPr>
          <p:cNvPr id="26630" name="Text Box 81">
            <a:extLst>
              <a:ext uri="{FF2B5EF4-FFF2-40B4-BE49-F238E27FC236}">
                <a16:creationId xmlns:a16="http://schemas.microsoft.com/office/drawing/2014/main" id="{6D8CD5B9-A2B9-C048-7D1E-0885ECA9E0D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013325" y="2697163"/>
            <a:ext cx="7937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GOOD: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9">
            <a:extLst>
              <a:ext uri="{FF2B5EF4-FFF2-40B4-BE49-F238E27FC236}">
                <a16:creationId xmlns:a16="http://schemas.microsoft.com/office/drawing/2014/main" id="{6B6C459F-CF8D-A8DA-513F-6356DCFEE9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Use Case Diagram: Account Management</a:t>
            </a:r>
          </a:p>
        </p:txBody>
      </p:sp>
      <p:sp>
        <p:nvSpPr>
          <p:cNvPr id="28675" name="Text Box 119">
            <a:extLst>
              <a:ext uri="{FF2B5EF4-FFF2-40B4-BE49-F238E27FC236}">
                <a16:creationId xmlns:a16="http://schemas.microsoft.com/office/drawing/2014/main" id="{11340E71-9102-E3A8-7D9A-A18CF3E1F89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375525" y="1139825"/>
            <a:ext cx="1476375" cy="1127125"/>
          </a:xfrm>
          <a:prstGeom prst="rect">
            <a:avLst/>
          </a:prstGeom>
          <a:solidFill>
            <a:schemeClr val="bg1"/>
          </a:solidFill>
          <a:ln w="57150">
            <a:solidFill>
              <a:srgbClr val="00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UC1: Unlock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UC2: Lock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UC3: AddUser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UC4: RemoveUser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UC5: InspectAccessHistory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UC6: SetDevicePrefs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UC7: AuthenticateUser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UC8: Login</a:t>
            </a:r>
          </a:p>
        </p:txBody>
      </p:sp>
      <p:pic>
        <p:nvPicPr>
          <p:cNvPr id="28676" name="Picture 120">
            <a:extLst>
              <a:ext uri="{FF2B5EF4-FFF2-40B4-BE49-F238E27FC236}">
                <a16:creationId xmlns:a16="http://schemas.microsoft.com/office/drawing/2014/main" id="{EF2C7251-21DD-AB88-8C74-FC7A5EF23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475" y="2514600"/>
            <a:ext cx="6681788" cy="337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4">
            <a:extLst>
              <a:ext uri="{FF2B5EF4-FFF2-40B4-BE49-F238E27FC236}">
                <a16:creationId xmlns:a16="http://schemas.microsoft.com/office/drawing/2014/main" id="{E187654E-5766-E43B-E923-E360D431DA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Use Case Generalizations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F838C8-5456-BE48-E569-7C7C00412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825" y="1600200"/>
            <a:ext cx="6870700" cy="673100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dirty="0"/>
              <a:t>More abstract representations can be derived from particular representations</a:t>
            </a:r>
          </a:p>
        </p:txBody>
      </p:sp>
      <p:sp>
        <p:nvSpPr>
          <p:cNvPr id="30724" name="Text Box 53">
            <a:extLst>
              <a:ext uri="{FF2B5EF4-FFF2-40B4-BE49-F238E27FC236}">
                <a16:creationId xmlns:a16="http://schemas.microsoft.com/office/drawing/2014/main" id="{8DF77D66-3651-63CC-933B-E113D308770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62025" y="5878513"/>
            <a:ext cx="278288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0">
                <a:latin typeface="Arial" panose="020B0604020202020204" pitchFamily="34" charset="0"/>
              </a:rPr>
              <a:t>Actor Generalization</a:t>
            </a:r>
          </a:p>
        </p:txBody>
      </p:sp>
      <p:grpSp>
        <p:nvGrpSpPr>
          <p:cNvPr id="30725" name="Group 84">
            <a:extLst>
              <a:ext uri="{FF2B5EF4-FFF2-40B4-BE49-F238E27FC236}">
                <a16:creationId xmlns:a16="http://schemas.microsoft.com/office/drawing/2014/main" id="{4204DFEF-9B3A-3281-3E25-FD195CA26F26}"/>
              </a:ext>
            </a:extLst>
          </p:cNvPr>
          <p:cNvGrpSpPr>
            <a:grpSpLocks/>
          </p:cNvGrpSpPr>
          <p:nvPr/>
        </p:nvGrpSpPr>
        <p:grpSpPr bwMode="auto">
          <a:xfrm>
            <a:off x="4633913" y="3508375"/>
            <a:ext cx="3394075" cy="1917700"/>
            <a:chOff x="3795" y="1939"/>
            <a:chExt cx="2138" cy="1208"/>
          </a:xfrm>
        </p:grpSpPr>
        <p:sp>
          <p:nvSpPr>
            <p:cNvPr id="30729" name="Oval 50">
              <a:extLst>
                <a:ext uri="{FF2B5EF4-FFF2-40B4-BE49-F238E27FC236}">
                  <a16:creationId xmlns:a16="http://schemas.microsoft.com/office/drawing/2014/main" id="{67EC0313-F12D-DA67-E444-CB0E2D4259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11" y="1939"/>
              <a:ext cx="1244" cy="26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latin typeface="Arial" panose="020B0604020202020204" pitchFamily="34" charset="0"/>
                </a:rPr>
                <a:t>UC9: ManageUsers</a:t>
              </a:r>
              <a:endParaRPr lang="en-US" altLang="en-US" sz="1400" b="0" i="1">
                <a:latin typeface="Arial" panose="020B0604020202020204" pitchFamily="34" charset="0"/>
              </a:endParaRPr>
            </a:p>
          </p:txBody>
        </p:sp>
        <p:sp>
          <p:nvSpPr>
            <p:cNvPr id="30730" name="Oval 51">
              <a:extLst>
                <a:ext uri="{FF2B5EF4-FFF2-40B4-BE49-F238E27FC236}">
                  <a16:creationId xmlns:a16="http://schemas.microsoft.com/office/drawing/2014/main" id="{6B257AA7-E68D-A77E-3D8D-E7B08C87082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75" y="2888"/>
              <a:ext cx="1058" cy="259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latin typeface="Arial" panose="020B0604020202020204" pitchFamily="34" charset="0"/>
                </a:rPr>
                <a:t>UC4: RemoveUser</a:t>
              </a:r>
              <a:endParaRPr lang="en-US" altLang="en-US" sz="1400" b="0" i="1">
                <a:latin typeface="Arial" panose="020B0604020202020204" pitchFamily="34" charset="0"/>
              </a:endParaRPr>
            </a:p>
          </p:txBody>
        </p:sp>
        <p:sp>
          <p:nvSpPr>
            <p:cNvPr id="30731" name="Oval 52">
              <a:extLst>
                <a:ext uri="{FF2B5EF4-FFF2-40B4-BE49-F238E27FC236}">
                  <a16:creationId xmlns:a16="http://schemas.microsoft.com/office/drawing/2014/main" id="{3EAD5480-5513-8245-88ED-DFA3245413F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95" y="2888"/>
              <a:ext cx="925" cy="23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latin typeface="Arial" panose="020B0604020202020204" pitchFamily="34" charset="0"/>
                </a:rPr>
                <a:t>UC3: AddUser</a:t>
              </a:r>
              <a:endParaRPr lang="en-US" altLang="en-US" sz="1400" b="0" i="1">
                <a:latin typeface="Arial" panose="020B0604020202020204" pitchFamily="34" charset="0"/>
              </a:endParaRPr>
            </a:p>
          </p:txBody>
        </p:sp>
        <p:sp>
          <p:nvSpPr>
            <p:cNvPr id="30732" name="Freeform 56">
              <a:extLst>
                <a:ext uri="{FF2B5EF4-FFF2-40B4-BE49-F238E27FC236}">
                  <a16:creationId xmlns:a16="http://schemas.microsoft.com/office/drawing/2014/main" id="{129D377D-8BE4-18F3-EB18-96295D8E1F9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259" y="2331"/>
              <a:ext cx="1146" cy="549"/>
            </a:xfrm>
            <a:custGeom>
              <a:avLst/>
              <a:gdLst>
                <a:gd name="T0" fmla="*/ 0 w 917"/>
                <a:gd name="T1" fmla="*/ 3597 h 480"/>
                <a:gd name="T2" fmla="*/ 0 w 917"/>
                <a:gd name="T3" fmla="*/ 799 h 480"/>
                <a:gd name="T4" fmla="*/ 13013 w 917"/>
                <a:gd name="T5" fmla="*/ 799 h 480"/>
                <a:gd name="T6" fmla="*/ 13013 w 917"/>
                <a:gd name="T7" fmla="*/ 0 h 480"/>
                <a:gd name="T8" fmla="*/ 13013 w 917"/>
                <a:gd name="T9" fmla="*/ 799 h 480"/>
                <a:gd name="T10" fmla="*/ 25986 w 917"/>
                <a:gd name="T11" fmla="*/ 799 h 480"/>
                <a:gd name="T12" fmla="*/ 25986 w 917"/>
                <a:gd name="T13" fmla="*/ 3597 h 4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17" h="480">
                  <a:moveTo>
                    <a:pt x="0" y="480"/>
                  </a:moveTo>
                  <a:lnTo>
                    <a:pt x="0" y="107"/>
                  </a:lnTo>
                  <a:lnTo>
                    <a:pt x="459" y="107"/>
                  </a:lnTo>
                  <a:lnTo>
                    <a:pt x="459" y="0"/>
                  </a:lnTo>
                  <a:lnTo>
                    <a:pt x="459" y="107"/>
                  </a:lnTo>
                  <a:lnTo>
                    <a:pt x="917" y="107"/>
                  </a:lnTo>
                  <a:lnTo>
                    <a:pt x="917" y="480"/>
                  </a:lnTo>
                </a:path>
              </a:pathLst>
            </a:custGeom>
            <a:noFill/>
            <a:ln w="63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3" name="AutoShape 63">
              <a:extLst>
                <a:ext uri="{FF2B5EF4-FFF2-40B4-BE49-F238E27FC236}">
                  <a16:creationId xmlns:a16="http://schemas.microsoft.com/office/drawing/2014/main" id="{4A4C05DB-0270-10E3-6E66-8B18E0282EF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76" y="2218"/>
              <a:ext cx="114" cy="115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30726" name="Text Box 78">
            <a:extLst>
              <a:ext uri="{FF2B5EF4-FFF2-40B4-BE49-F238E27FC236}">
                <a16:creationId xmlns:a16="http://schemas.microsoft.com/office/drawing/2014/main" id="{4ABC1EFF-86C4-D34A-C223-DCB0D0B5713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6638" y="5878513"/>
            <a:ext cx="3411537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0">
                <a:latin typeface="Arial" panose="020B0604020202020204" pitchFamily="34" charset="0"/>
              </a:rPr>
              <a:t>Use Case Generalization</a:t>
            </a:r>
          </a:p>
        </p:txBody>
      </p:sp>
      <p:sp>
        <p:nvSpPr>
          <p:cNvPr id="30727" name="Text Box 82">
            <a:extLst>
              <a:ext uri="{FF2B5EF4-FFF2-40B4-BE49-F238E27FC236}">
                <a16:creationId xmlns:a16="http://schemas.microsoft.com/office/drawing/2014/main" id="{F01E34B7-256A-8954-D008-B4FBFBA28E5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375525" y="1139825"/>
            <a:ext cx="1476375" cy="1127125"/>
          </a:xfrm>
          <a:prstGeom prst="rect">
            <a:avLst/>
          </a:prstGeom>
          <a:solidFill>
            <a:schemeClr val="bg1"/>
          </a:solidFill>
          <a:ln w="57150">
            <a:solidFill>
              <a:srgbClr val="00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UC1: Unlock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UC2: Lock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UC3: AddUser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UC4: RemoveUser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UC5: InspectAccessHistory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UC6: SetDevicePrefs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UC7: AuthenticateUser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UC8: Login</a:t>
            </a:r>
          </a:p>
        </p:txBody>
      </p:sp>
      <p:pic>
        <p:nvPicPr>
          <p:cNvPr id="30728" name="Picture 2">
            <a:extLst>
              <a:ext uri="{FF2B5EF4-FFF2-40B4-BE49-F238E27FC236}">
                <a16:creationId xmlns:a16="http://schemas.microsoft.com/office/drawing/2014/main" id="{516D3728-E75A-C09D-A566-C2D13C913B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050" y="2776538"/>
            <a:ext cx="2125663" cy="26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>
            <a:extLst>
              <a:ext uri="{FF2B5EF4-FFF2-40B4-BE49-F238E27FC236}">
                <a16:creationId xmlns:a16="http://schemas.microsoft.com/office/drawing/2014/main" id="{88BFC8C7-A991-A32F-250B-2969EEB66D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Traceability Matrix (1)</a:t>
            </a:r>
          </a:p>
        </p:txBody>
      </p:sp>
      <p:sp>
        <p:nvSpPr>
          <p:cNvPr id="32771" name="Rectangle 145">
            <a:extLst>
              <a:ext uri="{FF2B5EF4-FFF2-40B4-BE49-F238E27FC236}">
                <a16:creationId xmlns:a16="http://schemas.microsoft.com/office/drawing/2014/main" id="{0EE988E2-5674-E9B5-5A37-CFA8CD987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8" y="1203325"/>
            <a:ext cx="4864100" cy="2746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Mapping: System requirements to Use cases</a:t>
            </a:r>
          </a:p>
        </p:txBody>
      </p:sp>
      <p:sp>
        <p:nvSpPr>
          <p:cNvPr id="32772" name="Text Box 147">
            <a:extLst>
              <a:ext uri="{FF2B5EF4-FFF2-40B4-BE49-F238E27FC236}">
                <a16:creationId xmlns:a16="http://schemas.microsoft.com/office/drawing/2014/main" id="{BCF4B07C-828B-2D3A-7F81-DF705C7A491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375525" y="1139825"/>
            <a:ext cx="1476375" cy="1127125"/>
          </a:xfrm>
          <a:prstGeom prst="rect">
            <a:avLst/>
          </a:prstGeom>
          <a:solidFill>
            <a:schemeClr val="bg1"/>
          </a:solidFill>
          <a:ln w="57150">
            <a:solidFill>
              <a:srgbClr val="00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UC1: Unlock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UC2: Lock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UC3: AddUser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UC4: RemoveUser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UC5: InspectAccessHistory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UC6: SetDevicePrefs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UC7: AuthenticateUser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UC8: Login</a:t>
            </a:r>
          </a:p>
        </p:txBody>
      </p:sp>
      <p:sp>
        <p:nvSpPr>
          <p:cNvPr id="32773" name="Text Box 148">
            <a:extLst>
              <a:ext uri="{FF2B5EF4-FFF2-40B4-BE49-F238E27FC236}">
                <a16:creationId xmlns:a16="http://schemas.microsoft.com/office/drawing/2014/main" id="{921F0A1E-9912-C2B7-2AB0-0FBE64BB189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14300" y="1552575"/>
            <a:ext cx="2622550" cy="1249363"/>
          </a:xfrm>
          <a:prstGeom prst="rect">
            <a:avLst/>
          </a:prstGeom>
          <a:solidFill>
            <a:schemeClr val="bg1"/>
          </a:solidFill>
          <a:ln w="57150">
            <a:solidFill>
              <a:srgbClr val="00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REQ1: Keep door locked and auto-lock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REQ2: Lock when “LOCK” pressed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REQ3: Unlock when valid key provided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REQ4: Allow mistakes but prevent dictionary attacks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REQ5: Maintain a history log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REQ6: Adding/removing users at runtime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REQ7: Configuring the device activation preferences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REQ8: Inspecting the access history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REQ9: Filing inquiries</a:t>
            </a:r>
          </a:p>
        </p:txBody>
      </p:sp>
      <p:pic>
        <p:nvPicPr>
          <p:cNvPr id="32774" name="Picture 154">
            <a:extLst>
              <a:ext uri="{FF2B5EF4-FFF2-40B4-BE49-F238E27FC236}">
                <a16:creationId xmlns:a16="http://schemas.microsoft.com/office/drawing/2014/main" id="{43130E85-9F14-42FE-61E7-2AE2BDDB1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438" y="2413000"/>
            <a:ext cx="5268912" cy="399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775" name="Rectangle 155">
            <a:extLst>
              <a:ext uri="{FF2B5EF4-FFF2-40B4-BE49-F238E27FC236}">
                <a16:creationId xmlns:a16="http://schemas.microsoft.com/office/drawing/2014/main" id="{C71BA19F-1CE2-5AA2-58C5-86954CCD4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6456363"/>
            <a:ext cx="5029200" cy="2746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Arial" panose="020B0604020202020204" pitchFamily="34" charset="0"/>
              </a:rPr>
              <a:t>Continued for domain model, design diagrams, 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7856A18E-34E7-5FC4-67BA-00EB365AFD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Traceability Matrix Purpose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BFA6B964-FD6D-71EA-40F3-8002485787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To check that all requirements are covered by the use cases</a:t>
            </a:r>
          </a:p>
          <a:p>
            <a:pPr eaLnBrk="1" hangingPunct="1">
              <a:spcBef>
                <a:spcPct val="80000"/>
              </a:spcBef>
            </a:pPr>
            <a:r>
              <a:rPr lang="en-US" altLang="en-US"/>
              <a:t>To check that none of the use cases is introduced without a reason (i.e., created not in response to any requirement)</a:t>
            </a:r>
          </a:p>
          <a:p>
            <a:pPr eaLnBrk="1" hangingPunct="1">
              <a:spcBef>
                <a:spcPct val="80000"/>
              </a:spcBef>
            </a:pPr>
            <a:r>
              <a:rPr lang="en-US" altLang="en-US"/>
              <a:t>To prioritize the work on use cases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>
            <a:extLst>
              <a:ext uri="{FF2B5EF4-FFF2-40B4-BE49-F238E27FC236}">
                <a16:creationId xmlns:a16="http://schemas.microsoft.com/office/drawing/2014/main" id="{5D5BAD42-6C2D-BE7C-F22E-5166D33595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Schema for Detailed Use Cases</a:t>
            </a:r>
          </a:p>
        </p:txBody>
      </p:sp>
      <p:graphicFrame>
        <p:nvGraphicFramePr>
          <p:cNvPr id="961869" name="Group 333">
            <a:extLst>
              <a:ext uri="{FF2B5EF4-FFF2-40B4-BE49-F238E27FC236}">
                <a16:creationId xmlns:a16="http://schemas.microsoft.com/office/drawing/2014/main" id="{CCF8FABA-C6C5-283F-6706-7AE4991AD4E7}"/>
              </a:ext>
            </a:extLst>
          </p:cNvPr>
          <p:cNvGraphicFramePr>
            <a:graphicFrameLocks noGrp="1"/>
          </p:cNvGraphicFramePr>
          <p:nvPr/>
        </p:nvGraphicFramePr>
        <p:xfrm>
          <a:off x="566738" y="1455738"/>
          <a:ext cx="7972425" cy="5280025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26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6713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Use Case UC-#: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Name / Identifier	[verb phrase]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Related Requirements: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List of the requirements that are addressed by this use case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1593" marR="36108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13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Initiating Actor: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Actor who initiates interaction with the system to accomplish a goal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1593" marR="36108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Actor’s Goal: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Informal description of the initiating actor’s goal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1593" marR="36108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713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Participating Actors: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1593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Actors that will help achieve the goal or need to know about the outcome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1593" marR="36108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713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Preconditions: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1593" marR="18054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What is assumed about the state of the system before the interaction starts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650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Postconditions: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1593" marR="18054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What are the results after the goal is achieved or abandoned; i.e., what must be true about the system at the time the execution of this use case is completed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963">
                <a:tc gridSpan="5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Flow of Events for Main Success Scenario: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sym typeface="Symbol" pitchFamily="18" charset="2"/>
                        </a:rPr>
                        <a:t></a:t>
                      </a: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1.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The initiating actor delivers an action or stimulus to the system (the arrow indicates the direction of interaction, to- or from the system)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sym typeface="Symbol" pitchFamily="18" charset="2"/>
                        </a:rPr>
                        <a:t></a:t>
                      </a: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2.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The system’s reaction or response to the stimulus; the system can also send a message to a participating actor, if any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sym typeface="Symbol" pitchFamily="18" charset="2"/>
                        </a:rPr>
                        <a:t></a:t>
                      </a: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3.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…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92125">
                <a:tc gridSpan="5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Flow of Events for Extensions (Alternate Scenarios):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What could go wrong? List the exceptions to the routine and describe how they are handled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sym typeface="Symbol" pitchFamily="18" charset="2"/>
                        </a:rPr>
                        <a:t></a:t>
                      </a: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1a.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For example, actor enters invalid data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sym typeface="Symbol" pitchFamily="18" charset="2"/>
                        </a:rPr>
                        <a:t></a:t>
                      </a: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2a.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For example, power outage, network failure, or requested data unavailable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 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 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…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325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 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 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2088">
                <a:tc gridSpan="5">
                  <a:txBody>
                    <a:bodyPr/>
                    <a:lstStyle/>
                    <a:p>
                      <a:pPr marL="117475" marR="0" lvl="0" indent="-11747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The arrows on the left indicate the direction of interaction: </a:t>
                      </a: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sym typeface="Symbol" pitchFamily="18" charset="2"/>
                        </a:rPr>
                        <a:t></a:t>
                      </a: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 Actor’s action;  </a:t>
                      </a: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sym typeface="Symbol" pitchFamily="18" charset="2"/>
                        </a:rPr>
                        <a:t></a:t>
                      </a: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 System’s reaction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7235" marR="6723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>
            <a:extLst>
              <a:ext uri="{FF2B5EF4-FFF2-40B4-BE49-F238E27FC236}">
                <a16:creationId xmlns:a16="http://schemas.microsoft.com/office/drawing/2014/main" id="{74075B9F-B39F-5B41-A155-F27A30F34C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Use Case 1: Unlock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4D8D7FF-0F50-65FC-0BF1-C65ED5E8CD9F}"/>
              </a:ext>
            </a:extLst>
          </p:cNvPr>
          <p:cNvGraphicFramePr>
            <a:graphicFrameLocks noGrp="1"/>
          </p:cNvGraphicFramePr>
          <p:nvPr/>
        </p:nvGraphicFramePr>
        <p:xfrm>
          <a:off x="644525" y="1692275"/>
          <a:ext cx="7932738" cy="4724400"/>
        </p:xfrm>
        <a:graphic>
          <a:graphicData uri="http://schemas.openxmlformats.org/drawingml/2006/table">
            <a:tbl>
              <a:tblPr/>
              <a:tblGrid>
                <a:gridCol w="482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4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23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6206">
                <a:tc gridSpan="3">
                  <a:txBody>
                    <a:bodyPr/>
                    <a:lstStyle/>
                    <a:p>
                      <a:pPr marL="0" marR="0" algn="l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Times New Roman"/>
                        </a:rPr>
                        <a:t>Use Case UC-1:</a:t>
                      </a:r>
                      <a:endParaRPr lang="en-US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6348" marR="663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Times New Roman"/>
                        </a:rPr>
                        <a:t>Unlock</a:t>
                      </a:r>
                      <a:endParaRPr lang="en-US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6348" marR="66348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206">
                <a:tc gridSpan="3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Related Requirem’ts: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6348" marR="663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/>
                          <a:ea typeface="Times New Roman"/>
                        </a:rPr>
                        <a:t>REQ1, REQ3, REQ4, and REQ5 stated in Table 2-1</a:t>
                      </a:r>
                    </a:p>
                  </a:txBody>
                  <a:tcPr marL="70647" marR="35631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137">
                <a:tc gridSpan="3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Initiating Actor: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6348" marR="663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Any of: Tenant, Landlord</a:t>
                      </a:r>
                    </a:p>
                  </a:txBody>
                  <a:tcPr marL="70647" marR="35631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137">
                <a:tc gridSpan="3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Actor’s Goal: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6348" marR="663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To disarm the lock and enter, and get space lighted up automatically.</a:t>
                      </a:r>
                    </a:p>
                  </a:txBody>
                  <a:tcPr marL="70647" marR="35631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206">
                <a:tc gridSpan="3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Participating Actors: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6348" marR="663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LockDevice, LightSwitch, Timer</a:t>
                      </a:r>
                    </a:p>
                  </a:txBody>
                  <a:tcPr marL="70647" marR="35631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645">
                <a:tc gridSpan="3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Preconditions: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70647" marR="178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• The set of valid keys stored in the system database is non-empty.</a:t>
                      </a:r>
                    </a:p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• The system displays the menu of available functions; at the door keypad the menu choices are “Lock” and “Unlock.”</a:t>
                      </a:r>
                    </a:p>
                  </a:txBody>
                  <a:tcPr marL="66348" marR="66348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137">
                <a:tc gridSpan="3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Postconditions: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70647" marR="178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The auto-lock timer has started countdown from </a:t>
                      </a:r>
                      <a:r>
                        <a:rPr lang="en-US" sz="1400">
                          <a:effectLst/>
                          <a:latin typeface="Arial"/>
                          <a:ea typeface="Times New Roman"/>
                        </a:rPr>
                        <a:t>autoLockInterval</a:t>
                      </a: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.</a:t>
                      </a:r>
                    </a:p>
                  </a:txBody>
                  <a:tcPr marL="66348" marR="66348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7845">
                <a:tc gridSpan="4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Flow of Events for Main Success Scenario: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6348" marR="663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7845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  <a:sym typeface="Symbol"/>
                        </a:rPr>
                        <a:t>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6348" marR="663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1.</a:t>
                      </a:r>
                    </a:p>
                  </a:txBody>
                  <a:tcPr marL="66348" marR="6634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Tenant</a:t>
                      </a: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/</a:t>
                      </a: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Landlord</a:t>
                      </a: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 arrives at the door and selects the menu item “Unlock”</a:t>
                      </a:r>
                    </a:p>
                  </a:txBody>
                  <a:tcPr marL="66348" marR="66348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7845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</a:p>
                  </a:txBody>
                  <a:tcPr marL="66348" marR="663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2.</a:t>
                      </a:r>
                    </a:p>
                  </a:txBody>
                  <a:tcPr marL="66348" marR="6634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sng">
                          <a:effectLst/>
                          <a:latin typeface="Times New Roman"/>
                          <a:ea typeface="Times New Roman"/>
                        </a:rPr>
                        <a:t>include::</a:t>
                      </a:r>
                      <a:r>
                        <a:rPr lang="en-US" sz="1400" i="1" u="sng">
                          <a:effectLst/>
                          <a:latin typeface="Times New Roman"/>
                          <a:ea typeface="Times New Roman"/>
                        </a:rPr>
                        <a:t>AuthenticateUser</a:t>
                      </a:r>
                      <a:r>
                        <a:rPr lang="en-US" sz="1400" u="sng">
                          <a:effectLst/>
                          <a:latin typeface="Times New Roman"/>
                          <a:ea typeface="Times New Roman"/>
                        </a:rPr>
                        <a:t> (UC-7)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6348" marR="66348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6206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  <a:sym typeface="Symbol"/>
                        </a:rPr>
                        <a:t>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6348" marR="663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3.</a:t>
                      </a:r>
                    </a:p>
                  </a:txBody>
                  <a:tcPr marL="66348" marR="6634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System</a:t>
                      </a: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 (a) signals to the </a:t>
                      </a: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Tenant</a:t>
                      </a: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/</a:t>
                      </a: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Landlord</a:t>
                      </a: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 the lock status, e.g., “disarmed,” (b) signals to </a:t>
                      </a: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LockDevice</a:t>
                      </a: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 to disarm the lock, and (c) signals to </a:t>
                      </a: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LightSwitch</a:t>
                      </a: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 to turn the light on</a:t>
                      </a:r>
                    </a:p>
                  </a:txBody>
                  <a:tcPr marL="66348" marR="66348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7845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  <a:sym typeface="Symbol"/>
                        </a:rPr>
                        <a:t>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6348" marR="663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4.</a:t>
                      </a:r>
                    </a:p>
                  </a:txBody>
                  <a:tcPr marL="66348" marR="6634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System</a:t>
                      </a: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 signals to the </a:t>
                      </a: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Timer</a:t>
                      </a: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 to start the auto-lock timer countdown</a:t>
                      </a:r>
                    </a:p>
                  </a:txBody>
                  <a:tcPr marL="66348" marR="66348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4137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  <a:sym typeface="Symbol"/>
                        </a:rPr>
                        <a:t>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6348" marR="6634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5.</a:t>
                      </a:r>
                    </a:p>
                  </a:txBody>
                  <a:tcPr marL="66348" marR="66348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/>
                          <a:ea typeface="Times New Roman"/>
                        </a:rPr>
                        <a:t>Tenant</a:t>
                      </a:r>
                      <a:r>
                        <a:rPr lang="en-US" sz="1400" dirty="0">
                          <a:effectLst/>
                          <a:latin typeface="Times New Roman"/>
                          <a:ea typeface="Times New Roman"/>
                        </a:rPr>
                        <a:t>/</a:t>
                      </a:r>
                      <a:r>
                        <a:rPr lang="en-US" sz="1400" b="1" dirty="0">
                          <a:effectLst/>
                          <a:latin typeface="Times New Roman"/>
                          <a:ea typeface="Times New Roman"/>
                        </a:rPr>
                        <a:t>Landlord</a:t>
                      </a:r>
                      <a:r>
                        <a:rPr lang="en-US" sz="1400" dirty="0">
                          <a:effectLst/>
                          <a:latin typeface="Times New Roman"/>
                          <a:ea typeface="Times New Roman"/>
                        </a:rPr>
                        <a:t> opens the door, enters the home [and shuts the door and locks]</a:t>
                      </a:r>
                    </a:p>
                  </a:txBody>
                  <a:tcPr marL="66348" marR="66348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>
            <a:extLst>
              <a:ext uri="{FF2B5EF4-FFF2-40B4-BE49-F238E27FC236}">
                <a16:creationId xmlns:a16="http://schemas.microsoft.com/office/drawing/2014/main" id="{43FB3630-3567-F9BF-1FD5-72AFEFFE03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Subroutine «include» Use Case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7CB80CD-10DA-7163-0702-6287343E43BA}"/>
              </a:ext>
            </a:extLst>
          </p:cNvPr>
          <p:cNvGraphicFramePr>
            <a:graphicFrameLocks noGrp="1"/>
          </p:cNvGraphicFramePr>
          <p:nvPr/>
        </p:nvGraphicFramePr>
        <p:xfrm>
          <a:off x="863600" y="1468438"/>
          <a:ext cx="7315200" cy="5173662"/>
        </p:xfrm>
        <a:graphic>
          <a:graphicData uri="http://schemas.openxmlformats.org/drawingml/2006/table">
            <a:tbl>
              <a:tblPr/>
              <a:tblGrid>
                <a:gridCol w="42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6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94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213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Use Case UC-7: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AuthenticateUser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(sub-use case)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737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Related Requirements: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REQ3, REQ4 stated in Table 2‑1</a:t>
                      </a:r>
                    </a:p>
                  </a:txBody>
                  <a:tcPr marL="73025" marR="3683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663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Initiating Actor: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Any of: Tenant, Landlord</a:t>
                      </a:r>
                    </a:p>
                  </a:txBody>
                  <a:tcPr marL="73025" marR="3683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663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Actor’s Goal: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 be positively identified by the system (at the door interface).</a:t>
                      </a:r>
                    </a:p>
                  </a:txBody>
                  <a:tcPr marL="73025" marR="3683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737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Participating Actors: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AlarmBell, Police</a:t>
                      </a:r>
                    </a:p>
                  </a:txBody>
                  <a:tcPr marL="73025" marR="3683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362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Preconditions: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3025" marR="18415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• The set of valid keys stored in the system database is non-empty.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• The counter of authentication attempts equals zero.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663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Postconditions: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3025" marR="18415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None worth mentioning.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924">
                <a:tc gridSpan="5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Flow of Events for Main Success Scenario: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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System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prompts the actor for identification, e.g., alphanumeric key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Tenant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/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Landlord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supplies a valid identification key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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3.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System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(a) verifies that the key is valid, and (b) signals to the actor the key validity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0663">
                <a:tc gridSpan="5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Flow of Events for Extensions (Alternate Scenarios):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0663">
                <a:tc gridSpan="5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2a.  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Tenant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/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Landlord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enters an invalid identification key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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System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(a) detects error, (b) marks a failed attempt, and (c) signals to the actor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6603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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1a.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System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(a) detects that the count of failed attempts exceeds the maximum allowed number, (b) signals to sound 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AlarmBell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and (c) notifies the 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Police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actor of a possible break-in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Tenant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/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Landlord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supplies a valid identification key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3.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Same as in Step 3 above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>
            <a:extLst>
              <a:ext uri="{FF2B5EF4-FFF2-40B4-BE49-F238E27FC236}">
                <a16:creationId xmlns:a16="http://schemas.microsoft.com/office/drawing/2014/main" id="{0E6E5025-21ED-13F8-3C30-2CAE14A898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Acceptance Test Case for</a:t>
            </a:r>
            <a:br>
              <a:rPr lang="en-US" altLang="en-US" sz="3600"/>
            </a:br>
            <a:r>
              <a:rPr lang="en-US" altLang="en-US" sz="3600"/>
              <a:t>UC-7 Authenticate User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BB9C4D5-44B2-CAED-C379-27DDC602E666}"/>
              </a:ext>
            </a:extLst>
          </p:cNvPr>
          <p:cNvGraphicFramePr>
            <a:graphicFrameLocks noGrp="1"/>
          </p:cNvGraphicFramePr>
          <p:nvPr/>
        </p:nvGraphicFramePr>
        <p:xfrm>
          <a:off x="773113" y="2009775"/>
          <a:ext cx="7418387" cy="4068763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285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5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982"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/>
                          <a:ea typeface="Times New Roman"/>
                        </a:rPr>
                        <a:t>Test-case Identifier:</a:t>
                      </a:r>
                      <a:endParaRPr lang="en-US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</a:rPr>
                        <a:t>TC-1</a:t>
                      </a:r>
                    </a:p>
                  </a:txBody>
                  <a:tcPr marL="68581" marR="68581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982"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/>
                          <a:ea typeface="Times New Roman"/>
                        </a:rPr>
                        <a:t>Use Case Tested:</a:t>
                      </a:r>
                      <a:endParaRPr lang="en-US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</a:rPr>
                        <a:t>UC-1, main success scenario, and UC-7</a:t>
                      </a:r>
                    </a:p>
                  </a:txBody>
                  <a:tcPr marL="68581" marR="68581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8945"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/>
                          <a:ea typeface="Times New Roman"/>
                        </a:rPr>
                        <a:t>Pass/fail Criteria:</a:t>
                      </a:r>
                      <a:endParaRPr lang="en-US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</a:rPr>
                        <a:t>The test passes if the user enters a key that is contained in the database, with less than a maximum allowed number of unsuccessful attempts</a:t>
                      </a:r>
                    </a:p>
                  </a:txBody>
                  <a:tcPr marL="68581" marR="68581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982"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/>
                          <a:ea typeface="Times New Roman"/>
                        </a:rPr>
                        <a:t>Input Data:</a:t>
                      </a:r>
                      <a:endParaRPr lang="en-US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</a:rPr>
                        <a:t>Numeric keycode, door identifier</a:t>
                      </a:r>
                    </a:p>
                  </a:txBody>
                  <a:tcPr marL="68581" marR="68581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982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/>
                          <a:ea typeface="Times New Roman"/>
                        </a:rPr>
                        <a:t>Test Procedure:</a:t>
                      </a:r>
                      <a:endParaRPr lang="en-US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/>
                          <a:ea typeface="Times New Roman"/>
                        </a:rPr>
                        <a:t>Expected Result:</a:t>
                      </a:r>
                      <a:endParaRPr lang="en-US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8945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</a:rPr>
                        <a:t>Step 1. Type in an incorrect keycode and a valid door identifier</a:t>
                      </a:r>
                    </a:p>
                  </a:txBody>
                  <a:tcPr marL="68581" marR="685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</a:rPr>
                        <a:t>System beeps to indicate failure;</a:t>
                      </a:r>
                      <a:br>
                        <a:rPr lang="en-US" sz="1600">
                          <a:effectLst/>
                          <a:latin typeface="Times New Roman"/>
                          <a:ea typeface="Times New Roman"/>
                        </a:rPr>
                      </a:br>
                      <a:r>
                        <a:rPr lang="en-US" sz="1600">
                          <a:effectLst/>
                          <a:latin typeface="Times New Roman"/>
                          <a:ea typeface="Times New Roman"/>
                        </a:rPr>
                        <a:t>records unsuccessful attempt in the database;</a:t>
                      </a:r>
                      <a:br>
                        <a:rPr lang="en-US" sz="1600">
                          <a:effectLst/>
                          <a:latin typeface="Times New Roman"/>
                          <a:ea typeface="Times New Roman"/>
                        </a:rPr>
                      </a:br>
                      <a:r>
                        <a:rPr lang="en-US" sz="1600">
                          <a:effectLst/>
                          <a:latin typeface="Times New Roman"/>
                          <a:ea typeface="Times New Roman"/>
                        </a:rPr>
                        <a:t>prompts the user to try again</a:t>
                      </a:r>
                    </a:p>
                  </a:txBody>
                  <a:tcPr marL="68581" marR="685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38945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</a:rPr>
                        <a:t>Step 2. Type in the correct keycode and door identifier</a:t>
                      </a:r>
                    </a:p>
                  </a:txBody>
                  <a:tcPr marL="68581" marR="685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Times New Roman"/>
                        </a:rPr>
                        <a:t>System flashes a green light to indicate success;</a:t>
                      </a:r>
                      <a:br>
                        <a:rPr lang="en-US" sz="1600" dirty="0">
                          <a:effectLst/>
                          <a:latin typeface="Times New Roman"/>
                          <a:ea typeface="Times New Roman"/>
                        </a:rPr>
                      </a:br>
                      <a:r>
                        <a:rPr lang="en-US" sz="1600" dirty="0">
                          <a:effectLst/>
                          <a:latin typeface="Times New Roman"/>
                          <a:ea typeface="Times New Roman"/>
                        </a:rPr>
                        <a:t>records successful access in the database;</a:t>
                      </a:r>
                      <a:br>
                        <a:rPr lang="en-US" sz="1600" dirty="0">
                          <a:effectLst/>
                          <a:latin typeface="Times New Roman"/>
                          <a:ea typeface="Times New Roman"/>
                        </a:rPr>
                      </a:br>
                      <a:r>
                        <a:rPr lang="en-US" sz="1600" dirty="0">
                          <a:effectLst/>
                          <a:latin typeface="Times New Roman"/>
                          <a:ea typeface="Times New Roman"/>
                        </a:rPr>
                        <a:t>disarms the lock device</a:t>
                      </a:r>
                    </a:p>
                  </a:txBody>
                  <a:tcPr marL="68581" marR="6858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>
            <a:extLst>
              <a:ext uri="{FF2B5EF4-FFF2-40B4-BE49-F238E27FC236}">
                <a16:creationId xmlns:a16="http://schemas.microsoft.com/office/drawing/2014/main" id="{2AAB737E-2E4F-47E4-7570-66AA932BDB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Use Case 2: Lock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5A115B9-5574-DE75-AA2F-4F0B30E84349}"/>
              </a:ext>
            </a:extLst>
          </p:cNvPr>
          <p:cNvGraphicFramePr>
            <a:graphicFrameLocks noGrp="1"/>
          </p:cNvGraphicFramePr>
          <p:nvPr/>
        </p:nvGraphicFramePr>
        <p:xfrm>
          <a:off x="541338" y="1519238"/>
          <a:ext cx="8048625" cy="4870450"/>
        </p:xfrm>
        <a:graphic>
          <a:graphicData uri="http://schemas.openxmlformats.org/drawingml/2006/table">
            <a:tbl>
              <a:tblPr/>
              <a:tblGrid>
                <a:gridCol w="504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2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517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2124">
                <a:tc gridSpan="3">
                  <a:txBody>
                    <a:bodyPr/>
                    <a:lstStyle/>
                    <a:p>
                      <a:pPr marL="0" marR="0" algn="l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Times New Roman"/>
                        </a:rPr>
                        <a:t>Use Case UC-2:</a:t>
                      </a:r>
                      <a:endParaRPr lang="en-US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8245" marR="582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Times New Roman"/>
                        </a:rPr>
                        <a:t>Lock</a:t>
                      </a:r>
                      <a:endParaRPr lang="en-US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8245" marR="5824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185">
                <a:tc gridSpan="3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/>
                          <a:ea typeface="Times New Roman"/>
                        </a:rPr>
                        <a:t>Related Requirements:</a:t>
                      </a:r>
                      <a:endParaRPr lang="en-US" sz="1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202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/>
                          <a:ea typeface="Times New Roman"/>
                        </a:rPr>
                        <a:t>REQ1, REQ2, and REQ5 stated in Table 2-1</a:t>
                      </a:r>
                    </a:p>
                  </a:txBody>
                  <a:tcPr marL="62020" marR="31279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124">
                <a:tc gridSpan="3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Initiating Actor: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8245" marR="582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/>
                          <a:ea typeface="Times New Roman"/>
                        </a:rPr>
                        <a:t>Any of: Tenant, Landlord, or Timer</a:t>
                      </a:r>
                    </a:p>
                  </a:txBody>
                  <a:tcPr marL="58245" marR="5824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124">
                <a:tc gridSpan="3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Actor’s Goal: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8245" marR="582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To lock the door &amp; get the lights shut automatically (?)</a:t>
                      </a:r>
                    </a:p>
                  </a:txBody>
                  <a:tcPr marL="58245" marR="5824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185">
                <a:tc gridSpan="3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Participating Actors: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8245" marR="582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LockDevice, LightSwitch, Timer</a:t>
                      </a:r>
                    </a:p>
                  </a:txBody>
                  <a:tcPr marL="58245" marR="5824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124">
                <a:tc gridSpan="3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Preconditions: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2020" marR="156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The system always displays the menu of available functions.</a:t>
                      </a:r>
                    </a:p>
                  </a:txBody>
                  <a:tcPr marL="58245" marR="5824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124">
                <a:tc gridSpan="3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Postconditions: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2020" marR="156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The door is closed and lock armed &amp; the auto-lock timer is reset.</a:t>
                      </a:r>
                    </a:p>
                  </a:txBody>
                  <a:tcPr marL="58245" marR="5824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7852">
                <a:tc gridSpan="4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Flow of Events for Main Success Scenario: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8245" marR="582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7852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  <a:sym typeface="Symbol"/>
                        </a:rPr>
                        <a:t>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8245" marR="582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1.</a:t>
                      </a:r>
                    </a:p>
                  </a:txBody>
                  <a:tcPr marL="58245" marR="5824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Tenant</a:t>
                      </a: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/</a:t>
                      </a: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Landlord</a:t>
                      </a: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 selects the menu item “Lock”</a:t>
                      </a:r>
                    </a:p>
                  </a:txBody>
                  <a:tcPr marL="58245" marR="5824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04247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  <a:sym typeface="Symbol"/>
                        </a:rPr>
                        <a:t>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8245" marR="582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2.</a:t>
                      </a:r>
                    </a:p>
                  </a:txBody>
                  <a:tcPr marL="58245" marR="5824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System</a:t>
                      </a: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 (a) signals affirmation, e.g., “lock armed,” (b) signals to </a:t>
                      </a: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LockDevice</a:t>
                      </a: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 to arm the lock (if not already armed), (c) signal to </a:t>
                      </a: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Timer</a:t>
                      </a: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 to reset the auto-lock counter, and (d) signals to </a:t>
                      </a: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LightSwitch</a:t>
                      </a: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 to turn the light off (?)</a:t>
                      </a:r>
                    </a:p>
                  </a:txBody>
                  <a:tcPr marL="58245" marR="5824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7852">
                <a:tc gridSpan="4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Flow of Events for Extensions (Alternate Scenarios):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8245" marR="582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7852">
                <a:tc gridSpan="4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2a.  System senses that the door is not closed, so the lock cannot be armed</a:t>
                      </a:r>
                    </a:p>
                  </a:txBody>
                  <a:tcPr marL="58245" marR="582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5705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  <a:sym typeface="Symbol"/>
                        </a:rPr>
                        <a:t>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8245" marR="582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1.</a:t>
                      </a:r>
                    </a:p>
                  </a:txBody>
                  <a:tcPr marL="58245" marR="5824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System</a:t>
                      </a: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 (a) signals a warning that the door is open, and (b) signal to </a:t>
                      </a: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Timer</a:t>
                      </a: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 to start the alarm counter</a:t>
                      </a:r>
                    </a:p>
                  </a:txBody>
                  <a:tcPr marL="58245" marR="5824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7852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  <a:sym typeface="Symbol"/>
                        </a:rPr>
                        <a:t>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8245" marR="582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2.</a:t>
                      </a:r>
                    </a:p>
                  </a:txBody>
                  <a:tcPr marL="58245" marR="5824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Tenant</a:t>
                      </a: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/</a:t>
                      </a: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Landlord</a:t>
                      </a: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 closes the door</a:t>
                      </a:r>
                    </a:p>
                  </a:txBody>
                  <a:tcPr marL="58245" marR="5824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604247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  <a:sym typeface="Symbol"/>
                        </a:rPr>
                        <a:t>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8245" marR="582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3.</a:t>
                      </a:r>
                    </a:p>
                  </a:txBody>
                  <a:tcPr marL="58245" marR="5824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/>
                          <a:ea typeface="Times New Roman"/>
                        </a:rPr>
                        <a:t>System</a:t>
                      </a:r>
                      <a:r>
                        <a:rPr lang="en-US" sz="1400" dirty="0">
                          <a:effectLst/>
                          <a:latin typeface="Times New Roman"/>
                          <a:ea typeface="Times New Roman"/>
                        </a:rPr>
                        <a:t> (a) senses the closure, (b) signals affirmation to the </a:t>
                      </a:r>
                      <a:r>
                        <a:rPr lang="en-US" sz="1400" b="1" dirty="0">
                          <a:effectLst/>
                          <a:latin typeface="Times New Roman"/>
                          <a:ea typeface="Times New Roman"/>
                        </a:rPr>
                        <a:t>Tenant</a:t>
                      </a:r>
                      <a:r>
                        <a:rPr lang="en-US" sz="1400" dirty="0">
                          <a:effectLst/>
                          <a:latin typeface="Times New Roman"/>
                          <a:ea typeface="Times New Roman"/>
                        </a:rPr>
                        <a:t>/</a:t>
                      </a:r>
                      <a:r>
                        <a:rPr lang="en-US" sz="1400" b="1" dirty="0">
                          <a:effectLst/>
                          <a:latin typeface="Times New Roman"/>
                          <a:ea typeface="Times New Roman"/>
                        </a:rPr>
                        <a:t>Landlord</a:t>
                      </a:r>
                      <a:r>
                        <a:rPr lang="en-US" sz="1400" dirty="0">
                          <a:effectLst/>
                          <a:latin typeface="Times New Roman"/>
                          <a:ea typeface="Times New Roman"/>
                        </a:rPr>
                        <a:t>, (c) signals to </a:t>
                      </a:r>
                      <a:r>
                        <a:rPr lang="en-US" sz="1400" b="1" dirty="0" err="1">
                          <a:effectLst/>
                          <a:latin typeface="Times New Roman"/>
                          <a:ea typeface="Times New Roman"/>
                        </a:rPr>
                        <a:t>LockDevice</a:t>
                      </a:r>
                      <a:r>
                        <a:rPr lang="en-US" sz="1400" dirty="0">
                          <a:effectLst/>
                          <a:latin typeface="Times New Roman"/>
                          <a:ea typeface="Times New Roman"/>
                        </a:rPr>
                        <a:t> to arm the lock, (d)</a:t>
                      </a:r>
                      <a:r>
                        <a:rPr lang="en-US" sz="1400" dirty="0">
                          <a:effectLst/>
                          <a:latin typeface="Times New Roman"/>
                          <a:ea typeface="Times New Roman"/>
                          <a:sym typeface="Symbol"/>
                        </a:rPr>
                        <a:t></a:t>
                      </a:r>
                      <a:r>
                        <a:rPr lang="en-US" sz="1400" dirty="0">
                          <a:effectLst/>
                          <a:latin typeface="Times New Roman"/>
                          <a:ea typeface="Times New Roman"/>
                        </a:rPr>
                        <a:t> signal to </a:t>
                      </a:r>
                      <a:r>
                        <a:rPr lang="en-US" sz="1400" b="1" dirty="0">
                          <a:effectLst/>
                          <a:latin typeface="Times New Roman"/>
                          <a:ea typeface="Times New Roman"/>
                        </a:rPr>
                        <a:t>Timer</a:t>
                      </a:r>
                      <a:r>
                        <a:rPr lang="en-US" sz="1400" dirty="0">
                          <a:effectLst/>
                          <a:latin typeface="Times New Roman"/>
                          <a:ea typeface="Times New Roman"/>
                        </a:rPr>
                        <a:t> to reset the auto-lock counter, and (e) signal to </a:t>
                      </a:r>
                      <a:r>
                        <a:rPr lang="en-US" sz="1400" b="1" dirty="0">
                          <a:effectLst/>
                          <a:latin typeface="Times New Roman"/>
                          <a:ea typeface="Times New Roman"/>
                        </a:rPr>
                        <a:t>Timer</a:t>
                      </a:r>
                      <a:r>
                        <a:rPr lang="en-US" sz="1400" dirty="0">
                          <a:effectLst/>
                          <a:latin typeface="Times New Roman"/>
                          <a:ea typeface="Times New Roman"/>
                        </a:rPr>
                        <a:t> to reset the alarm counter</a:t>
                      </a:r>
                    </a:p>
                  </a:txBody>
                  <a:tcPr marL="58245" marR="5824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>
            <a:extLst>
              <a:ext uri="{FF2B5EF4-FFF2-40B4-BE49-F238E27FC236}">
                <a16:creationId xmlns:a16="http://schemas.microsoft.com/office/drawing/2014/main" id="{05551F83-B6F9-345F-299D-812B5920C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300" y="1489075"/>
            <a:ext cx="6870700" cy="4738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7107" name="Rectangle 3">
            <a:extLst>
              <a:ext uri="{FF2B5EF4-FFF2-40B4-BE49-F238E27FC236}">
                <a16:creationId xmlns:a16="http://schemas.microsoft.com/office/drawing/2014/main" id="{725789A0-4163-FF10-DFAE-B64C8F03F7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Use Case 3: Add User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>
            <a:extLst>
              <a:ext uri="{FF2B5EF4-FFF2-40B4-BE49-F238E27FC236}">
                <a16:creationId xmlns:a16="http://schemas.microsoft.com/office/drawing/2014/main" id="{228A66B3-E226-C196-336C-0F2C60F7C2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en-US" dirty="0"/>
              <a:t>Use Case 5: Inspect Access History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2D3CB5A-1601-1ECB-3B68-D80029594255}"/>
              </a:ext>
            </a:extLst>
          </p:cNvPr>
          <p:cNvGraphicFramePr>
            <a:graphicFrameLocks noGrp="1"/>
          </p:cNvGraphicFramePr>
          <p:nvPr/>
        </p:nvGraphicFramePr>
        <p:xfrm>
          <a:off x="515938" y="1566863"/>
          <a:ext cx="8202612" cy="5024437"/>
        </p:xfrm>
        <a:graphic>
          <a:graphicData uri="http://schemas.openxmlformats.org/drawingml/2006/table">
            <a:tbl>
              <a:tblPr/>
              <a:tblGrid>
                <a:gridCol w="504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57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1009">
                <a:tc gridSpan="3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Times New Roman"/>
                        </a:rPr>
                        <a:t>Use Case UC-5:</a:t>
                      </a:r>
                      <a:endParaRPr lang="en-US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3102" marR="5310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Times New Roman"/>
                        </a:rPr>
                        <a:t>Inspect Access History</a:t>
                      </a:r>
                      <a:endParaRPr lang="en-US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3102" marR="53102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511">
                <a:tc gridSpan="3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Related Requirements: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6544" marR="142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/>
                          <a:ea typeface="Times New Roman"/>
                        </a:rPr>
                        <a:t>REQ8 and REQ9 stated in Table 2-1</a:t>
                      </a:r>
                    </a:p>
                  </a:txBody>
                  <a:tcPr marL="56544" marR="28518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009">
                <a:tc gridSpan="3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/>
                          <a:ea typeface="Times New Roman"/>
                        </a:rPr>
                        <a:t>Initiating Actor:</a:t>
                      </a:r>
                      <a:endParaRPr lang="en-US" sz="1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3102" marR="5310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Any of: Tenant, Landlord</a:t>
                      </a:r>
                    </a:p>
                  </a:txBody>
                  <a:tcPr marL="56544" marR="28518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009">
                <a:tc gridSpan="3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Actor’s Goal: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3102" marR="5310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To examine the access history for a particular door.</a:t>
                      </a:r>
                    </a:p>
                  </a:txBody>
                  <a:tcPr marL="56544" marR="28518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511">
                <a:tc gridSpan="3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Participating Actors: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6544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Database, Landlord</a:t>
                      </a:r>
                    </a:p>
                  </a:txBody>
                  <a:tcPr marL="56544" marR="28518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948">
                <a:tc gridSpan="3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Preconditions: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6544" marR="142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/>
                          <a:ea typeface="Times New Roman"/>
                        </a:rPr>
                        <a:t>Tenant/Landlord</a:t>
                      </a:r>
                      <a:r>
                        <a:rPr lang="en-US" sz="1400" dirty="0">
                          <a:effectLst/>
                          <a:latin typeface="Times New Roman"/>
                          <a:ea typeface="Times New Roman"/>
                        </a:rPr>
                        <a:t> is logged in the system and is shown a hyperlink “View Access History.”</a:t>
                      </a:r>
                    </a:p>
                  </a:txBody>
                  <a:tcPr marL="53102" marR="53102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009">
                <a:tc gridSpan="3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Postconditions: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6544" marR="142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None.</a:t>
                      </a:r>
                    </a:p>
                  </a:txBody>
                  <a:tcPr marL="53102" marR="53102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7800">
                <a:tc gridSpan="4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Flow of Events for Main Success Scenario: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3102" marR="5310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  <a:sym typeface="Symbol"/>
                        </a:rPr>
                        <a:t>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3102" marR="5310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1.</a:t>
                      </a:r>
                    </a:p>
                  </a:txBody>
                  <a:tcPr marL="53102" marR="5310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Tenant/Landlord</a:t>
                      </a: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 clicks the hyperlink “View Access History”</a:t>
                      </a:r>
                    </a:p>
                  </a:txBody>
                  <a:tcPr marL="53102" marR="53102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  <a:sym typeface="Symbol"/>
                        </a:rPr>
                        <a:t>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3102" marR="5310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2.</a:t>
                      </a:r>
                    </a:p>
                  </a:txBody>
                  <a:tcPr marL="53102" marR="5310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System</a:t>
                      </a: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 prompts for the search criteria (e.g., time frame, door location, actor role, event type, etc.) or “Show all”</a:t>
                      </a:r>
                    </a:p>
                  </a:txBody>
                  <a:tcPr marL="53102" marR="53102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  <a:sym typeface="Symbol"/>
                        </a:rPr>
                        <a:t>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3102" marR="5310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3.</a:t>
                      </a:r>
                    </a:p>
                  </a:txBody>
                  <a:tcPr marL="53102" marR="5310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Tenant/Landlord</a:t>
                      </a: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 specifies the search criteria and submits</a:t>
                      </a:r>
                    </a:p>
                  </a:txBody>
                  <a:tcPr marL="53102" marR="53102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  <a:sym typeface="Symbol"/>
                        </a:rPr>
                        <a:t>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3102" marR="5310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4.</a:t>
                      </a:r>
                    </a:p>
                  </a:txBody>
                  <a:tcPr marL="53102" marR="5310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System</a:t>
                      </a: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 prepares a database query that best matches the actor’s search criteria and retrieves the records from the </a:t>
                      </a: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Database</a:t>
                      </a: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53102" marR="53102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  <a:sym typeface="Symbol"/>
                        </a:rPr>
                        <a:t>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3102" marR="5310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5.</a:t>
                      </a:r>
                    </a:p>
                  </a:txBody>
                  <a:tcPr marL="53102" marR="5310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Database</a:t>
                      </a: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 returns the matching records</a:t>
                      </a:r>
                    </a:p>
                  </a:txBody>
                  <a:tcPr marL="53102" marR="53102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06511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  <a:sym typeface="Symbol"/>
                        </a:rPr>
                        <a:t>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3102" marR="5310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6.</a:t>
                      </a:r>
                    </a:p>
                  </a:txBody>
                  <a:tcPr marL="53102" marR="5310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System</a:t>
                      </a: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 (a) additionally filters the retrieved records to match the actor’s search criteria; (b) renders the remaining records for display; and (c) shows the result for </a:t>
                      </a: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Tenant/Landlord</a:t>
                      </a: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’s consideration</a:t>
                      </a:r>
                    </a:p>
                  </a:txBody>
                  <a:tcPr marL="53102" marR="53102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06511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  <a:sym typeface="Symbol"/>
                        </a:rPr>
                        <a:t>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3102" marR="5310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7.</a:t>
                      </a:r>
                    </a:p>
                  </a:txBody>
                  <a:tcPr marL="53102" marR="5310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Times New Roman"/>
                        </a:rPr>
                        <a:t>Tenant/Landlord</a:t>
                      </a: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 browses, selects “interesting” records (if any), and requests further investigation (with an accompanying complaint description)</a:t>
                      </a:r>
                    </a:p>
                  </a:txBody>
                  <a:tcPr marL="53102" marR="53102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42013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  <a:sym typeface="Symbol"/>
                        </a:rPr>
                        <a:t></a:t>
                      </a:r>
                      <a:endParaRPr lang="en-US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3102" marR="5310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/>
                          <a:ea typeface="Times New Roman"/>
                        </a:rPr>
                        <a:t>8.</a:t>
                      </a:r>
                    </a:p>
                  </a:txBody>
                  <a:tcPr marL="53102" marR="5310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/>
                          <a:ea typeface="Times New Roman"/>
                        </a:rPr>
                        <a:t>System</a:t>
                      </a:r>
                      <a:r>
                        <a:rPr lang="en-US" sz="1400" dirty="0">
                          <a:effectLst/>
                          <a:latin typeface="Times New Roman"/>
                          <a:ea typeface="Times New Roman"/>
                        </a:rPr>
                        <a:t> (a) displays only the selected records and confirms the request; (b) archives the request in the </a:t>
                      </a:r>
                      <a:r>
                        <a:rPr lang="en-US" sz="1400" b="1" dirty="0">
                          <a:effectLst/>
                          <a:latin typeface="Times New Roman"/>
                          <a:ea typeface="Times New Roman"/>
                        </a:rPr>
                        <a:t>Database</a:t>
                      </a:r>
                      <a:r>
                        <a:rPr lang="en-US" sz="1400" dirty="0">
                          <a:effectLst/>
                          <a:latin typeface="Times New Roman"/>
                          <a:ea typeface="Times New Roman"/>
                        </a:rPr>
                        <a:t> and assigns it a tracking number; (c) notifies </a:t>
                      </a:r>
                      <a:r>
                        <a:rPr lang="en-US" sz="1400" b="1" dirty="0">
                          <a:effectLst/>
                          <a:latin typeface="Times New Roman"/>
                          <a:ea typeface="Times New Roman"/>
                        </a:rPr>
                        <a:t>Landlord</a:t>
                      </a:r>
                      <a:r>
                        <a:rPr lang="en-US" sz="1400" dirty="0">
                          <a:effectLst/>
                          <a:latin typeface="Times New Roman"/>
                          <a:ea typeface="Times New Roman"/>
                        </a:rPr>
                        <a:t> about the request; and (d) informs </a:t>
                      </a:r>
                      <a:r>
                        <a:rPr lang="en-US" sz="1400" b="1" dirty="0">
                          <a:effectLst/>
                          <a:latin typeface="Times New Roman"/>
                          <a:ea typeface="Times New Roman"/>
                        </a:rPr>
                        <a:t>Tenant/Landlord</a:t>
                      </a:r>
                      <a:r>
                        <a:rPr lang="en-US" sz="1400" dirty="0">
                          <a:effectLst/>
                          <a:latin typeface="Times New Roman"/>
                          <a:ea typeface="Times New Roman"/>
                        </a:rPr>
                        <a:t> about the tracking number</a:t>
                      </a:r>
                    </a:p>
                  </a:txBody>
                  <a:tcPr marL="53102" marR="53102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pic>
        <p:nvPicPr>
          <p:cNvPr id="49200" name="Picture 5">
            <a:extLst>
              <a:ext uri="{FF2B5EF4-FFF2-40B4-BE49-F238E27FC236}">
                <a16:creationId xmlns:a16="http://schemas.microsoft.com/office/drawing/2014/main" id="{2DFEB9A5-7DB5-D4B8-3A62-D9B2AA2DF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" y="6127750"/>
            <a:ext cx="109538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201" name="Picture 4">
            <a:extLst>
              <a:ext uri="{FF2B5EF4-FFF2-40B4-BE49-F238E27FC236}">
                <a16:creationId xmlns:a16="http://schemas.microsoft.com/office/drawing/2014/main" id="{4DB89B58-2136-90BA-F5A5-96714FEDE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" y="5270500"/>
            <a:ext cx="109538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2">
            <a:extLst>
              <a:ext uri="{FF2B5EF4-FFF2-40B4-BE49-F238E27FC236}">
                <a16:creationId xmlns:a16="http://schemas.microsoft.com/office/drawing/2014/main" id="{9C11EA05-A0C7-25B3-72EE-6218D07A3F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Use case: Wash Hands</a:t>
            </a:r>
          </a:p>
        </p:txBody>
      </p:sp>
      <p:sp>
        <p:nvSpPr>
          <p:cNvPr id="51203" name="Content Placeholder 3">
            <a:extLst>
              <a:ext uri="{FF2B5EF4-FFF2-40B4-BE49-F238E27FC236}">
                <a16:creationId xmlns:a16="http://schemas.microsoft.com/office/drawing/2014/main" id="{667E1E48-B68D-37D5-81BD-A32A90CAD5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4825" y="1600200"/>
            <a:ext cx="8410575" cy="812800"/>
          </a:xfrm>
        </p:spPr>
        <p:txBody>
          <a:bodyPr/>
          <a:lstStyle/>
          <a:p>
            <a:r>
              <a:rPr lang="en-US" altLang="en-US"/>
              <a:t>How a beginner writes the use case:</a:t>
            </a:r>
          </a:p>
        </p:txBody>
      </p:sp>
      <p:pic>
        <p:nvPicPr>
          <p:cNvPr id="51204" name="Picture 4">
            <a:extLst>
              <a:ext uri="{FF2B5EF4-FFF2-40B4-BE49-F238E27FC236}">
                <a16:creationId xmlns:a16="http://schemas.microsoft.com/office/drawing/2014/main" id="{29AD9C3E-C553-417F-0C17-0E13A192D3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0" y="2871788"/>
            <a:ext cx="3686175" cy="27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1">
            <a:extLst>
              <a:ext uri="{FF2B5EF4-FFF2-40B4-BE49-F238E27FC236}">
                <a16:creationId xmlns:a16="http://schemas.microsoft.com/office/drawing/2014/main" id="{00B95E35-04F0-1875-973D-C8FDFAE2B4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1784350"/>
            <a:ext cx="7218362" cy="471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7" name="Title 2">
            <a:extLst>
              <a:ext uri="{FF2B5EF4-FFF2-40B4-BE49-F238E27FC236}">
                <a16:creationId xmlns:a16="http://schemas.microsoft.com/office/drawing/2014/main" id="{F971E88E-5A38-41D9-0ADB-0F149E7826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Use case: Wash Hands</a:t>
            </a:r>
          </a:p>
        </p:txBody>
      </p:sp>
      <p:sp>
        <p:nvSpPr>
          <p:cNvPr id="52228" name="Content Placeholder 3">
            <a:extLst>
              <a:ext uri="{FF2B5EF4-FFF2-40B4-BE49-F238E27FC236}">
                <a16:creationId xmlns:a16="http://schemas.microsoft.com/office/drawing/2014/main" id="{BBFF6543-6E6A-642E-7E38-056C9F929B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1938" y="1347788"/>
            <a:ext cx="8839200" cy="1168400"/>
          </a:xfrm>
        </p:spPr>
        <p:txBody>
          <a:bodyPr/>
          <a:lstStyle/>
          <a:p>
            <a:r>
              <a:rPr lang="en-US" altLang="en-US"/>
              <a:t>How an experienced developer writes the use case:</a:t>
            </a:r>
          </a:p>
        </p:txBody>
      </p:sp>
      <p:sp>
        <p:nvSpPr>
          <p:cNvPr id="52229" name="Rectangle 4">
            <a:extLst>
              <a:ext uri="{FF2B5EF4-FFF2-40B4-BE49-F238E27FC236}">
                <a16:creationId xmlns:a16="http://schemas.microsoft.com/office/drawing/2014/main" id="{221372DA-6D9E-9F49-40ED-66DFA58FF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25" y="6334125"/>
            <a:ext cx="47386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rgbClr val="680000"/>
              </a:buClr>
              <a:buFont typeface="Wingdings" panose="05000000000000000000" pitchFamily="2" charset="2"/>
              <a:buChar char="q"/>
            </a:pPr>
            <a:r>
              <a:rPr lang="en-US" altLang="en-US" b="0">
                <a:latin typeface="AvantGarde Bk BT" pitchFamily="34" charset="0"/>
              </a:rPr>
              <a:t>But, that’s </a:t>
            </a:r>
            <a:r>
              <a:rPr lang="en-US" altLang="en-US" i="1">
                <a:latin typeface="AvantGarde Bk BT" pitchFamily="34" charset="0"/>
              </a:rPr>
              <a:t>obvious</a:t>
            </a:r>
            <a:r>
              <a:rPr lang="en-US" altLang="en-US" b="0">
                <a:latin typeface="AvantGarde Bk BT" pitchFamily="34" charset="0"/>
              </a:rPr>
              <a:t>! ...right?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E5E26944-AAA7-A6F4-264A-690D3A6CA0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Use case: Wash Hands</a:t>
            </a:r>
          </a:p>
        </p:txBody>
      </p:sp>
      <p:sp>
        <p:nvSpPr>
          <p:cNvPr id="53251" name="Content Placeholder 3">
            <a:extLst>
              <a:ext uri="{FF2B5EF4-FFF2-40B4-BE49-F238E27FC236}">
                <a16:creationId xmlns:a16="http://schemas.microsoft.com/office/drawing/2014/main" id="{20A08448-0599-20B8-63E1-95BFB365C0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4825" y="1425575"/>
            <a:ext cx="8410575" cy="700088"/>
          </a:xfrm>
        </p:spPr>
        <p:txBody>
          <a:bodyPr/>
          <a:lstStyle/>
          <a:p>
            <a:r>
              <a:rPr lang="en-US" altLang="en-US"/>
              <a:t>Well, maybe not!</a:t>
            </a:r>
          </a:p>
        </p:txBody>
      </p:sp>
      <p:pic>
        <p:nvPicPr>
          <p:cNvPr id="53252" name="Picture 4">
            <a:extLst>
              <a:ext uri="{FF2B5EF4-FFF2-40B4-BE49-F238E27FC236}">
                <a16:creationId xmlns:a16="http://schemas.microsoft.com/office/drawing/2014/main" id="{E4FC82DA-4221-7B2A-6F2B-F8DB066C72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" y="2206625"/>
            <a:ext cx="7924800" cy="218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3" name="Picture 5">
            <a:extLst>
              <a:ext uri="{FF2B5EF4-FFF2-40B4-BE49-F238E27FC236}">
                <a16:creationId xmlns:a16="http://schemas.microsoft.com/office/drawing/2014/main" id="{CC3E7BC8-1DCD-8B80-D48D-F6AD5D9F66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4445000"/>
            <a:ext cx="5005387" cy="239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4" name="Picture 1">
            <a:extLst>
              <a:ext uri="{FF2B5EF4-FFF2-40B4-BE49-F238E27FC236}">
                <a16:creationId xmlns:a16="http://schemas.microsoft.com/office/drawing/2014/main" id="{E1D47FF1-15BE-2C34-2CD5-8237E3D585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5" y="5710238"/>
            <a:ext cx="3729038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FB280A70-4E89-9B1C-3468-4D1D098147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System Boundary &amp; Subsystems</a:t>
            </a:r>
          </a:p>
        </p:txBody>
      </p:sp>
      <p:pic>
        <p:nvPicPr>
          <p:cNvPr id="55299" name="Picture 295">
            <a:extLst>
              <a:ext uri="{FF2B5EF4-FFF2-40B4-BE49-F238E27FC236}">
                <a16:creationId xmlns:a16="http://schemas.microsoft.com/office/drawing/2014/main" id="{49011F07-3514-4F37-2563-36E68CE51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" y="1965325"/>
            <a:ext cx="8742363" cy="426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300" name="Rectangle 1">
            <a:extLst>
              <a:ext uri="{FF2B5EF4-FFF2-40B4-BE49-F238E27FC236}">
                <a16:creationId xmlns:a16="http://schemas.microsoft.com/office/drawing/2014/main" id="{CEAD60AA-149D-0B3A-6FB3-A4056A808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1477963"/>
            <a:ext cx="4338638" cy="4619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0">
                <a:latin typeface="AvantGarde Bk BT" pitchFamily="34" charset="0"/>
              </a:rPr>
              <a:t>Use Case Variations Example: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FE554C71-6B39-6226-795B-D8F1C3324C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Modified Use Case Diagram</a:t>
            </a:r>
          </a:p>
        </p:txBody>
      </p:sp>
      <p:sp>
        <p:nvSpPr>
          <p:cNvPr id="57347" name="Text Box 193">
            <a:extLst>
              <a:ext uri="{FF2B5EF4-FFF2-40B4-BE49-F238E27FC236}">
                <a16:creationId xmlns:a16="http://schemas.microsoft.com/office/drawing/2014/main" id="{3F00A003-586C-5567-A093-AEE96CAE453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375525" y="1139825"/>
            <a:ext cx="1476375" cy="1127125"/>
          </a:xfrm>
          <a:prstGeom prst="rect">
            <a:avLst/>
          </a:prstGeom>
          <a:solidFill>
            <a:schemeClr val="bg1"/>
          </a:solidFill>
          <a:ln w="57150">
            <a:solidFill>
              <a:srgbClr val="00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UC1: Unlock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UC2: Lock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UC3: AddUser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UC4: RemoveUser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UC5: InspectAccessHistory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UC6: SetDevicePrefs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UC7: AuthenticateUser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Arial" panose="020B0604020202020204" pitchFamily="34" charset="0"/>
              </a:rPr>
              <a:t>UC8: Login</a:t>
            </a:r>
          </a:p>
        </p:txBody>
      </p:sp>
      <p:pic>
        <p:nvPicPr>
          <p:cNvPr id="57348" name="Picture 194">
            <a:extLst>
              <a:ext uri="{FF2B5EF4-FFF2-40B4-BE49-F238E27FC236}">
                <a16:creationId xmlns:a16="http://schemas.microsoft.com/office/drawing/2014/main" id="{5B66A13B-4CB1-75C3-9E45-83FD3985F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63" y="2393950"/>
            <a:ext cx="8345487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349" name="Rectangle 4">
            <a:extLst>
              <a:ext uri="{FF2B5EF4-FFF2-40B4-BE49-F238E27FC236}">
                <a16:creationId xmlns:a16="http://schemas.microsoft.com/office/drawing/2014/main" id="{E29739F1-01BB-B4E2-326A-B6AAD5AE0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1477963"/>
            <a:ext cx="5083175" cy="708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>
                <a:latin typeface="AvantGarde Bk BT" pitchFamily="34" charset="0"/>
              </a:rPr>
              <a:t>Authentication subsystem (FaceReco, Ltd.)</a:t>
            </a:r>
            <a:br>
              <a:rPr lang="en-US" altLang="en-US" sz="2000" b="0">
                <a:latin typeface="AvantGarde Bk BT" pitchFamily="34" charset="0"/>
              </a:rPr>
            </a:br>
            <a:r>
              <a:rPr lang="en-US" altLang="en-US" sz="2000" b="0">
                <a:latin typeface="AvantGarde Bk BT" pitchFamily="34" charset="0"/>
              </a:rPr>
              <a:t>is externalized from the system-to-be: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D134170F-3D6B-0E77-3322-463BE95E93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Security and Risk Management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B71A126F-8BE1-A547-51DB-35BB56A844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Identifying and preempting the serious risks to system’s safe and successful functioning</a:t>
            </a:r>
          </a:p>
          <a:p>
            <a:pPr eaLnBrk="1" hangingPunct="1">
              <a:spcBef>
                <a:spcPct val="80000"/>
              </a:spcBef>
            </a:pPr>
            <a:r>
              <a:rPr lang="en-US" altLang="en-US"/>
              <a:t>Risk types:</a:t>
            </a:r>
          </a:p>
          <a:p>
            <a:pPr lvl="1" eaLnBrk="1" hangingPunct="1">
              <a:spcBef>
                <a:spcPct val="30000"/>
              </a:spcBef>
            </a:pPr>
            <a:r>
              <a:rPr lang="en-US" altLang="en-US">
                <a:latin typeface="Arial" panose="020B0604020202020204" pitchFamily="34" charset="0"/>
              </a:rPr>
              <a:t>Intolerable</a:t>
            </a:r>
          </a:p>
          <a:p>
            <a:pPr lvl="1" eaLnBrk="1" hangingPunct="1">
              <a:spcBef>
                <a:spcPct val="30000"/>
              </a:spcBef>
            </a:pPr>
            <a:r>
              <a:rPr lang="en-US" altLang="en-US">
                <a:latin typeface="Arial" panose="020B0604020202020204" pitchFamily="34" charset="0"/>
              </a:rPr>
              <a:t>As low as reasonably practical (ALARP)</a:t>
            </a:r>
          </a:p>
          <a:p>
            <a:pPr lvl="1" eaLnBrk="1" hangingPunct="1">
              <a:spcBef>
                <a:spcPct val="30000"/>
              </a:spcBef>
            </a:pPr>
            <a:r>
              <a:rPr lang="en-US" altLang="en-US">
                <a:latin typeface="Arial" panose="020B0604020202020204" pitchFamily="34" charset="0"/>
              </a:rPr>
              <a:t>Acceptable</a:t>
            </a:r>
          </a:p>
          <a:p>
            <a:pPr eaLnBrk="1" hangingPunct="1">
              <a:spcBef>
                <a:spcPct val="80000"/>
              </a:spcBef>
            </a:pPr>
            <a:r>
              <a:rPr lang="en-US" altLang="en-US"/>
              <a:t>Example </a:t>
            </a:r>
            <a:r>
              <a:rPr lang="en-US" altLang="en-US" b="1"/>
              <a:t>abuse case</a:t>
            </a:r>
            <a:r>
              <a:rPr lang="en-US" altLang="en-US"/>
              <a:t> input sequence:</a:t>
            </a:r>
          </a:p>
          <a:p>
            <a:pPr lvl="2" eaLnBrk="1" hangingPunct="1">
              <a:spcBef>
                <a:spcPct val="30000"/>
              </a:spcBef>
            </a:pPr>
            <a:r>
              <a:rPr lang="en-US" altLang="en-US"/>
              <a:t>invalid-key, invalid-key, … </a:t>
            </a:r>
            <a:r>
              <a:rPr lang="en-US" altLang="en-US">
                <a:sym typeface="Symbol" panose="05050102010706020507" pitchFamily="18" charset="2"/>
              </a:rPr>
              <a:t></a:t>
            </a:r>
            <a:r>
              <a:rPr lang="en-US" altLang="en-US"/>
              <a:t> maxNumOfAttempts ;</a:t>
            </a:r>
            <a:br>
              <a:rPr lang="en-US" altLang="en-US"/>
            </a:br>
            <a:r>
              <a:rPr lang="en-US" altLang="en-US"/>
              <a:t>wait maxAttemptPeriod ; invalid-key, invalid-key, …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929F66BD-5BE9-9B93-4DB9-6E9A38D1E6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System Sequence Diagram</a:t>
            </a:r>
            <a:br>
              <a:rPr lang="en-US" altLang="en-US"/>
            </a:br>
            <a:r>
              <a:rPr lang="en-US" altLang="en-US" sz="2400"/>
              <a:t>[Modeling System Workflows]</a:t>
            </a:r>
          </a:p>
        </p:txBody>
      </p:sp>
      <p:sp>
        <p:nvSpPr>
          <p:cNvPr id="61443" name="Text Box 4">
            <a:extLst>
              <a:ext uri="{FF2B5EF4-FFF2-40B4-BE49-F238E27FC236}">
                <a16:creationId xmlns:a16="http://schemas.microsoft.com/office/drawing/2014/main" id="{610A5E49-5C5D-70B8-518C-788C31874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9263" y="1501775"/>
            <a:ext cx="2808287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0">
                <a:latin typeface="AvantGarde Bk BT" pitchFamily="34" charset="0"/>
              </a:rPr>
              <a:t>Use case: Unlock</a:t>
            </a:r>
          </a:p>
        </p:txBody>
      </p:sp>
      <p:sp>
        <p:nvSpPr>
          <p:cNvPr id="61444" name="Text Box 5">
            <a:extLst>
              <a:ext uri="{FF2B5EF4-FFF2-40B4-BE49-F238E27FC236}">
                <a16:creationId xmlns:a16="http://schemas.microsoft.com/office/drawing/2014/main" id="{13EDAED6-CADD-1AC8-0FB4-F0642A3C2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4463" y="5672138"/>
            <a:ext cx="235426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AvantGarde Bk BT" pitchFamily="34" charset="0"/>
              </a:rPr>
              <a:t>Main success scenario</a:t>
            </a:r>
          </a:p>
        </p:txBody>
      </p:sp>
      <p:sp>
        <p:nvSpPr>
          <p:cNvPr id="61445" name="Rectangle 53">
            <a:extLst>
              <a:ext uri="{FF2B5EF4-FFF2-40B4-BE49-F238E27FC236}">
                <a16:creationId xmlns:a16="http://schemas.microsoft.com/office/drawing/2014/main" id="{F3D75167-23D2-75C2-C4C4-A864D64C7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88" y="6259513"/>
            <a:ext cx="5970587" cy="4889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0">
                <a:latin typeface="Arial" panose="020B0604020202020204" pitchFamily="34" charset="0"/>
              </a:rPr>
              <a:t>Similar to UML sequence diagrams,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0">
                <a:latin typeface="Arial" panose="020B0604020202020204" pitchFamily="34" charset="0"/>
              </a:rPr>
              <a:t>but for </a:t>
            </a:r>
            <a:r>
              <a:rPr lang="en-US" altLang="en-US" sz="1600" i="1">
                <a:latin typeface="Arial" panose="020B0604020202020204" pitchFamily="34" charset="0"/>
              </a:rPr>
              <a:t>actor interactions</a:t>
            </a:r>
            <a:r>
              <a:rPr lang="en-US" altLang="en-US" sz="1600" b="0">
                <a:latin typeface="Arial" panose="020B0604020202020204" pitchFamily="34" charset="0"/>
              </a:rPr>
              <a:t> instead of software </a:t>
            </a:r>
            <a:r>
              <a:rPr lang="en-US" altLang="en-US" sz="1600" i="1">
                <a:latin typeface="Arial" panose="020B0604020202020204" pitchFamily="34" charset="0"/>
              </a:rPr>
              <a:t>object interactions</a:t>
            </a:r>
          </a:p>
        </p:txBody>
      </p:sp>
      <p:pic>
        <p:nvPicPr>
          <p:cNvPr id="61446" name="Picture 54">
            <a:extLst>
              <a:ext uri="{FF2B5EF4-FFF2-40B4-BE49-F238E27FC236}">
                <a16:creationId xmlns:a16="http://schemas.microsoft.com/office/drawing/2014/main" id="{84624010-DA42-33C0-ECAA-A966BB4F3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50" y="1925638"/>
            <a:ext cx="6021388" cy="347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E116DA09-733F-3C06-6B6F-1DC045FE44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System Sequence Diagram</a:t>
            </a:r>
            <a:br>
              <a:rPr lang="en-US" altLang="en-US"/>
            </a:br>
            <a:r>
              <a:rPr lang="en-US" altLang="en-US" sz="2400"/>
              <a:t>[Modeling System Workflows]</a:t>
            </a:r>
          </a:p>
        </p:txBody>
      </p:sp>
      <p:sp>
        <p:nvSpPr>
          <p:cNvPr id="63491" name="Text Box 4">
            <a:extLst>
              <a:ext uri="{FF2B5EF4-FFF2-40B4-BE49-F238E27FC236}">
                <a16:creationId xmlns:a16="http://schemas.microsoft.com/office/drawing/2014/main" id="{4A94EA76-88F6-0F78-3443-8A88DF3D9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6363" y="1501775"/>
            <a:ext cx="2808287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0">
                <a:latin typeface="AvantGarde Bk BT" pitchFamily="34" charset="0"/>
              </a:rPr>
              <a:t>Use case: Unlock</a:t>
            </a:r>
          </a:p>
        </p:txBody>
      </p:sp>
      <p:sp>
        <p:nvSpPr>
          <p:cNvPr id="63492" name="Text Box 5">
            <a:extLst>
              <a:ext uri="{FF2B5EF4-FFF2-40B4-BE49-F238E27FC236}">
                <a16:creationId xmlns:a16="http://schemas.microsoft.com/office/drawing/2014/main" id="{35B248F2-5FA6-5A7D-730B-2D62CFA34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2538" y="6146800"/>
            <a:ext cx="380682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0" rIns="9144" bIns="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AvantGarde Bk BT" pitchFamily="34" charset="0"/>
              </a:rPr>
              <a:t>Alternate scenario (burglary attempt)</a:t>
            </a:r>
          </a:p>
        </p:txBody>
      </p:sp>
      <p:pic>
        <p:nvPicPr>
          <p:cNvPr id="63493" name="Picture 47">
            <a:extLst>
              <a:ext uri="{FF2B5EF4-FFF2-40B4-BE49-F238E27FC236}">
                <a16:creationId xmlns:a16="http://schemas.microsoft.com/office/drawing/2014/main" id="{E9EB4FD0-76E5-6CDB-AC88-1ACDA5362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2025" y="2125663"/>
            <a:ext cx="4883150" cy="3243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9C2B8D54-7FD9-E7FA-7735-3BFF2ECB27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Activity Diagram</a:t>
            </a:r>
            <a:br>
              <a:rPr lang="en-US" altLang="en-US"/>
            </a:br>
            <a:r>
              <a:rPr lang="en-US" altLang="en-US" sz="2400"/>
              <a:t>[Modeling System Workflows]</a:t>
            </a:r>
          </a:p>
        </p:txBody>
      </p:sp>
      <p:pic>
        <p:nvPicPr>
          <p:cNvPr id="65539" name="Picture 62">
            <a:extLst>
              <a:ext uri="{FF2B5EF4-FFF2-40B4-BE49-F238E27FC236}">
                <a16:creationId xmlns:a16="http://schemas.microsoft.com/office/drawing/2014/main" id="{BE201BAD-54A9-3DAC-C931-226605344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38" y="1408113"/>
            <a:ext cx="4784725" cy="537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E0032A8D-D710-C1EE-8412-E6C4D320F0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Limitations of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4997C-FB90-2EC0-EAF6-450000AB5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dirty="0"/>
              <a:t>Often the user is using the system on behalf of the actual beneficiary. A store, agency, or bank clerk, lawyer, doctor, ... interacting with the system when providing service to a customer</a:t>
            </a:r>
          </a:p>
          <a:p>
            <a:pPr>
              <a:defRPr/>
            </a:pPr>
            <a:r>
              <a:rPr lang="en-US" dirty="0"/>
              <a:t>Whose business goals should we consider for these use cases: direct user’s or actual beneficiary’s?</a:t>
            </a:r>
          </a:p>
          <a:p>
            <a:pPr lvl="1">
              <a:defRPr/>
            </a:pPr>
            <a:r>
              <a:rPr lang="en-US" dirty="0"/>
              <a:t>Arguably there are merits in considering both, because otherwise we get only a partial picture.</a:t>
            </a:r>
          </a:p>
          <a:p>
            <a:pPr lvl="2">
              <a:defRPr/>
            </a:pPr>
            <a:r>
              <a:rPr lang="en-US" dirty="0"/>
              <a:t>E.g., in the restaurant example, we discuss what the wait staff may want to do, but we often mention the guest: the guest may order this or require that.</a:t>
            </a:r>
          </a:p>
          <a:p>
            <a:pPr>
              <a:defRPr/>
            </a:pPr>
            <a:r>
              <a:rPr lang="en-US" dirty="0"/>
              <a:t>The key importance of the end beneficiary is highlighted by the fact that automation systems often replace the intermediary in a business scenario and allow the end beneficiary to directly interact with the system.</a:t>
            </a:r>
          </a:p>
          <a:p>
            <a:pPr lvl="1">
              <a:defRPr/>
            </a:pPr>
            <a:r>
              <a:rPr lang="en-US" dirty="0"/>
              <a:t>When the intermediary cannot be completely replaced by automation, the intermediary becomes another user (supporting actor?) instead of being interposed between the system and the actual beneficiary.</a:t>
            </a:r>
          </a:p>
        </p:txBody>
      </p:sp>
      <p:sp>
        <p:nvSpPr>
          <p:cNvPr id="67588" name="Rectangle 145">
            <a:extLst>
              <a:ext uri="{FF2B5EF4-FFF2-40B4-BE49-F238E27FC236}">
                <a16:creationId xmlns:a16="http://schemas.microsoft.com/office/drawing/2014/main" id="{1133CC43-A0AF-48DC-99AC-C63A5B2A9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8" y="1203325"/>
            <a:ext cx="5167312" cy="2762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NOTE:  User stories suffer the same limitations</a:t>
            </a:r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>
            <a:extLst>
              <a:ext uri="{FF2B5EF4-FFF2-40B4-BE49-F238E27FC236}">
                <a16:creationId xmlns:a16="http://schemas.microsoft.com/office/drawing/2014/main" id="{FF5A8D3F-8C9F-8F8F-560F-30EFE88721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User Interface Requirements</a:t>
            </a:r>
          </a:p>
        </p:txBody>
      </p:sp>
      <p:sp>
        <p:nvSpPr>
          <p:cNvPr id="68611" name="Content Placeholder 2">
            <a:extLst>
              <a:ext uri="{FF2B5EF4-FFF2-40B4-BE49-F238E27FC236}">
                <a16:creationId xmlns:a16="http://schemas.microsoft.com/office/drawing/2014/main" id="{D569D7A6-387C-B929-8D26-594DF587D2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Do not waste your time and your customer’s time by creating elaborate screen shots with many embellishments, coloring, shading, etc., that only distract attention from most important aspects of the interface</a:t>
            </a:r>
          </a:p>
          <a:p>
            <a:r>
              <a:rPr lang="en-US" altLang="en-US"/>
              <a:t>Hand-drawing the proposed interface forces you to </a:t>
            </a:r>
            <a:r>
              <a:rPr lang="en-US" altLang="en-US" b="1" i="1">
                <a:solidFill>
                  <a:srgbClr val="680000"/>
                </a:solidFill>
              </a:rPr>
              <a:t>economize</a:t>
            </a:r>
            <a:r>
              <a:rPr lang="en-US" altLang="en-US">
                <a:solidFill>
                  <a:srgbClr val="680000"/>
                </a:solidFill>
              </a:rPr>
              <a:t> </a:t>
            </a:r>
            <a:r>
              <a:rPr lang="en-US" altLang="en-US"/>
              <a:t>and focus on the most important features</a:t>
            </a:r>
          </a:p>
          <a:p>
            <a:r>
              <a:rPr lang="en-US" altLang="en-US"/>
              <a:t>Only when there is a consensus that a good design is reached, invest effort to prototype the interface</a:t>
            </a:r>
          </a:p>
        </p:txBody>
      </p:sp>
      <p:sp>
        <p:nvSpPr>
          <p:cNvPr id="68612" name="Slide Number Placeholder 3">
            <a:extLst>
              <a:ext uri="{FF2B5EF4-FFF2-40B4-BE49-F238E27FC236}">
                <a16:creationId xmlns:a16="http://schemas.microsoft.com/office/drawing/2014/main" id="{07A3CC57-2732-6FA7-F6BC-1028FC9C6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340AE8B-7417-49F4-95AE-791ECCFA6728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68613" name="Rectangle 3">
            <a:extLst>
              <a:ext uri="{FF2B5EF4-FFF2-40B4-BE49-F238E27FC236}">
                <a16:creationId xmlns:a16="http://schemas.microsoft.com/office/drawing/2014/main" id="{384D00E9-6BB9-2B32-C6EE-3A0D93E8A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8" y="6278563"/>
            <a:ext cx="7369175" cy="261937"/>
          </a:xfrm>
          <a:prstGeom prst="rect">
            <a:avLst/>
          </a:prstGeom>
          <a:solidFill>
            <a:srgbClr val="FFFFE6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lIns="45720" rIns="4572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100" b="0">
                <a:latin typeface="Arial" panose="020B0604020202020204" pitchFamily="34" charset="0"/>
              </a:rPr>
              <a:t>https://arstechnica.com/gadgets/2018/01/with-ink-to-code-microsoft-is-turning-back-of-napkin-sketches-into-software/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4">
            <a:extLst>
              <a:ext uri="{FF2B5EF4-FFF2-40B4-BE49-F238E27FC236}">
                <a16:creationId xmlns:a16="http://schemas.microsoft.com/office/drawing/2014/main" id="{16DB085B-FA1E-BABB-EEF5-7654446188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Safe Home Access</a:t>
            </a:r>
          </a:p>
        </p:txBody>
      </p:sp>
      <p:sp>
        <p:nvSpPr>
          <p:cNvPr id="69635" name="Slide Number Placeholder 3">
            <a:extLst>
              <a:ext uri="{FF2B5EF4-FFF2-40B4-BE49-F238E27FC236}">
                <a16:creationId xmlns:a16="http://schemas.microsoft.com/office/drawing/2014/main" id="{1CF02132-E7D0-F321-2327-B52554C5A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50AC40-AAF7-4C9E-8234-A991D751B279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pic>
        <p:nvPicPr>
          <p:cNvPr id="69636" name="Picture 5">
            <a:extLst>
              <a:ext uri="{FF2B5EF4-FFF2-40B4-BE49-F238E27FC236}">
                <a16:creationId xmlns:a16="http://schemas.microsoft.com/office/drawing/2014/main" id="{C7C90C60-4EB0-52E0-EC62-CA1D3560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298700"/>
            <a:ext cx="2533650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7" name="TextBox 6">
            <a:extLst>
              <a:ext uri="{FF2B5EF4-FFF2-40B4-BE49-F238E27FC236}">
                <a16:creationId xmlns:a16="http://schemas.microsoft.com/office/drawing/2014/main" id="{FF2D878D-A5A4-CF7A-9572-7EBCB4CE4B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374775"/>
            <a:ext cx="7964488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latin typeface="AvantGarde Bk BT" pitchFamily="34" charset="0"/>
              </a:rPr>
              <a:t>User interface requirement: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latin typeface="AvantGarde Bk BT" pitchFamily="34" charset="0"/>
              </a:rPr>
              <a:t>The UI must be simple for occasional visitors who will not have time to familiarize or to study user’s documentation.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200" b="0">
              <a:latin typeface="AvantGarde Bk BT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>
                <a:latin typeface="AvantGarde Bk BT" pitchFamily="34" charset="0"/>
              </a:rPr>
              <a:t>Initial design of the door keypad: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D70C3D-2831-CEDA-D79B-E393BECC6144}"/>
              </a:ext>
            </a:extLst>
          </p:cNvPr>
          <p:cNvSpPr txBox="1"/>
          <p:nvPr/>
        </p:nvSpPr>
        <p:spPr>
          <a:xfrm>
            <a:off x="3100388" y="2408238"/>
            <a:ext cx="6043612" cy="4402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u="sng" dirty="0">
                <a:solidFill>
                  <a:srgbClr val="680000"/>
                </a:solidFill>
                <a:latin typeface="AvantGarde Bk BT" panose="020B0402020202020204" pitchFamily="34" charset="0"/>
              </a:rPr>
              <a:t>Analysis</a:t>
            </a:r>
            <a:r>
              <a:rPr lang="en-US" sz="2000" b="0" dirty="0">
                <a:latin typeface="AvantGarde Bk BT" panose="020B0402020202020204" pitchFamily="34" charset="0"/>
              </a:rPr>
              <a:t>:</a:t>
            </a:r>
          </a:p>
          <a:p>
            <a:pPr marL="342900" indent="-342900">
              <a:buClr>
                <a:srgbClr val="680000"/>
              </a:buClr>
              <a:buFont typeface="Wingdings" panose="05000000000000000000" pitchFamily="2" charset="2"/>
              <a:buChar char="q"/>
              <a:defRPr/>
            </a:pPr>
            <a:r>
              <a:rPr lang="en-US" sz="2000" b="0" dirty="0">
                <a:latin typeface="AvantGarde Bk BT" panose="020B0402020202020204" pitchFamily="34" charset="0"/>
              </a:rPr>
              <a:t>If “Unlock” button is </a:t>
            </a:r>
            <a:r>
              <a:rPr lang="en-US" sz="2000" b="0" i="1" dirty="0">
                <a:latin typeface="AvantGarde Bk BT" panose="020B0402020202020204" pitchFamily="34" charset="0"/>
              </a:rPr>
              <a:t>not</a:t>
            </a:r>
            <a:r>
              <a:rPr lang="en-US" sz="2000" b="0" dirty="0">
                <a:latin typeface="AvantGarde Bk BT" panose="020B0402020202020204" pitchFamily="34" charset="0"/>
              </a:rPr>
              <a:t> available, then the system could simply take the </a:t>
            </a:r>
            <a:r>
              <a:rPr lang="en-US" sz="2000" dirty="0">
                <a:solidFill>
                  <a:srgbClr val="680000"/>
                </a:solidFill>
                <a:latin typeface="AvantGarde Bk BT" panose="020B0402020202020204" pitchFamily="34" charset="0"/>
              </a:rPr>
              <a:t>first</a:t>
            </a:r>
            <a:r>
              <a:rPr lang="en-US" sz="2000" b="0" dirty="0">
                <a:solidFill>
                  <a:srgbClr val="680000"/>
                </a:solidFill>
                <a:latin typeface="AvantGarde Bk BT" panose="020B0402020202020204" pitchFamily="34" charset="0"/>
              </a:rPr>
              <a:t> </a:t>
            </a:r>
            <a:r>
              <a:rPr lang="en-US" sz="2000" b="0" i="1" dirty="0">
                <a:latin typeface="AvantGarde Bk BT" panose="020B0402020202020204" pitchFamily="34" charset="0"/>
              </a:rPr>
              <a:t>N</a:t>
            </a:r>
            <a:r>
              <a:rPr lang="en-US" sz="2000" b="0" dirty="0">
                <a:latin typeface="AvantGarde Bk BT" panose="020B0402020202020204" pitchFamily="34" charset="0"/>
              </a:rPr>
              <a:t> digits and validate as the key.</a:t>
            </a:r>
          </a:p>
          <a:p>
            <a:pPr marL="342900" indent="-342900">
              <a:buClr>
                <a:srgbClr val="680000"/>
              </a:buClr>
              <a:buFont typeface="Wingdings" panose="05000000000000000000" pitchFamily="2" charset="2"/>
              <a:buChar char="q"/>
              <a:defRPr/>
            </a:pPr>
            <a:r>
              <a:rPr lang="en-US" sz="2000" b="0" dirty="0">
                <a:latin typeface="AvantGarde Bk BT" panose="020B0402020202020204" pitchFamily="34" charset="0"/>
              </a:rPr>
              <a:t>If “Unlock” button </a:t>
            </a:r>
            <a:r>
              <a:rPr lang="en-US" sz="2000" b="0" i="1" dirty="0">
                <a:latin typeface="AvantGarde Bk BT" panose="020B0402020202020204" pitchFamily="34" charset="0"/>
              </a:rPr>
              <a:t>is</a:t>
            </a:r>
            <a:r>
              <a:rPr lang="en-US" sz="2000" b="0" dirty="0">
                <a:latin typeface="AvantGarde Bk BT" panose="020B0402020202020204" pitchFamily="34" charset="0"/>
              </a:rPr>
              <a:t> available, then the system could take the </a:t>
            </a:r>
            <a:r>
              <a:rPr lang="en-US" sz="2000" dirty="0">
                <a:solidFill>
                  <a:srgbClr val="680000"/>
                </a:solidFill>
                <a:latin typeface="AvantGarde Bk BT" panose="020B0402020202020204" pitchFamily="34" charset="0"/>
              </a:rPr>
              <a:t>last</a:t>
            </a:r>
            <a:r>
              <a:rPr lang="en-US" sz="2000" b="0" dirty="0">
                <a:latin typeface="AvantGarde Bk BT" panose="020B0402020202020204" pitchFamily="34" charset="0"/>
              </a:rPr>
              <a:t> </a:t>
            </a:r>
            <a:r>
              <a:rPr lang="en-US" sz="2000" b="0" i="1" dirty="0">
                <a:latin typeface="AvantGarde Bk BT" panose="020B0402020202020204" pitchFamily="34" charset="0"/>
              </a:rPr>
              <a:t>N</a:t>
            </a:r>
            <a:r>
              <a:rPr lang="en-US" sz="2000" b="0" dirty="0">
                <a:latin typeface="AvantGarde Bk BT" panose="020B0402020202020204" pitchFamily="34" charset="0"/>
              </a:rPr>
              <a:t> digits and validate as the key (and ignore any number &gt;</a:t>
            </a:r>
            <a:r>
              <a:rPr lang="en-US" sz="2000" b="0" i="1" dirty="0">
                <a:latin typeface="AvantGarde Bk BT" panose="020B0402020202020204" pitchFamily="34" charset="0"/>
              </a:rPr>
              <a:t>N</a:t>
            </a:r>
            <a:r>
              <a:rPr lang="en-US" sz="2000" b="0" dirty="0">
                <a:latin typeface="AvantGarde Bk BT" panose="020B0402020202020204" pitchFamily="34" charset="0"/>
              </a:rPr>
              <a:t> of previously entered digits).</a:t>
            </a:r>
          </a:p>
          <a:p>
            <a:pPr marL="342900" indent="-342900">
              <a:buClr>
                <a:srgbClr val="680000"/>
              </a:buClr>
              <a:buFont typeface="Wingdings" panose="05000000000000000000" pitchFamily="2" charset="2"/>
              <a:buChar char="q"/>
              <a:defRPr/>
            </a:pPr>
            <a:r>
              <a:rPr lang="en-US" sz="2000" b="0" dirty="0">
                <a:latin typeface="AvantGarde Bk BT" panose="020B0402020202020204" pitchFamily="34" charset="0"/>
              </a:rPr>
              <a:t>The advantage of the latter approach is that it allows correcting for unintentional mistakes during typing, so the </a:t>
            </a:r>
            <a:r>
              <a:rPr lang="en-US" sz="2000" b="0" i="1" dirty="0">
                <a:latin typeface="AvantGarde Bk BT" panose="020B0402020202020204" pitchFamily="34" charset="0"/>
              </a:rPr>
              <a:t>legitimate</a:t>
            </a:r>
            <a:r>
              <a:rPr lang="en-US" sz="2000" b="0" dirty="0">
                <a:latin typeface="AvantGarde Bk BT" panose="020B0402020202020204" pitchFamily="34" charset="0"/>
              </a:rPr>
              <a:t> user can have more opportunities to attempt.</a:t>
            </a:r>
          </a:p>
          <a:p>
            <a:pPr marL="342900" indent="-342900">
              <a:buClr>
                <a:srgbClr val="680000"/>
              </a:buClr>
              <a:buFont typeface="Wingdings" panose="05000000000000000000" pitchFamily="2" charset="2"/>
              <a:buChar char="q"/>
              <a:defRPr/>
            </a:pPr>
            <a:r>
              <a:rPr lang="en-US" sz="2000" b="0" dirty="0">
                <a:latin typeface="AvantGarde Bk BT" panose="020B0402020202020204" pitchFamily="34" charset="0"/>
              </a:rPr>
              <a:t>Note that this feature will not help the burglar trying a dictionary attack.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>
            <a:extLst>
              <a:ext uri="{FF2B5EF4-FFF2-40B4-BE49-F238E27FC236}">
                <a16:creationId xmlns:a16="http://schemas.microsoft.com/office/drawing/2014/main" id="{CC69B79F-5F06-C671-D9F1-3D4ABB5BEA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Safe Home Access</a:t>
            </a:r>
          </a:p>
        </p:txBody>
      </p:sp>
      <p:sp>
        <p:nvSpPr>
          <p:cNvPr id="70659" name="Slide Number Placeholder 2">
            <a:extLst>
              <a:ext uri="{FF2B5EF4-FFF2-40B4-BE49-F238E27FC236}">
                <a16:creationId xmlns:a16="http://schemas.microsoft.com/office/drawing/2014/main" id="{BA82F467-6E17-F0A8-1376-42DC48A17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F713C7-2040-42EE-B00C-CCF79F264D7F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70660" name="TextBox 3">
            <a:extLst>
              <a:ext uri="{FF2B5EF4-FFF2-40B4-BE49-F238E27FC236}">
                <a16:creationId xmlns:a16="http://schemas.microsoft.com/office/drawing/2014/main" id="{2BA31BE3-4ECC-1C10-D174-8A0D40C85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495425"/>
            <a:ext cx="8970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>
                <a:latin typeface="AvantGarde Bk BT" pitchFamily="34" charset="0"/>
              </a:rPr>
              <a:t>Redesigned door keypad:  </a:t>
            </a:r>
            <a:r>
              <a:rPr lang="en-US" altLang="en-US" sz="2000" b="0">
                <a:latin typeface="AvantGarde Bk BT" pitchFamily="34" charset="0"/>
              </a:rPr>
              <a:t>includes the “Unlock”&amp;“Lock” buttons</a:t>
            </a:r>
          </a:p>
        </p:txBody>
      </p:sp>
      <p:pic>
        <p:nvPicPr>
          <p:cNvPr id="70661" name="Picture 4">
            <a:extLst>
              <a:ext uri="{FF2B5EF4-FFF2-40B4-BE49-F238E27FC236}">
                <a16:creationId xmlns:a16="http://schemas.microsoft.com/office/drawing/2014/main" id="{5941AE4F-377B-0031-ED4D-656A9C724E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159000"/>
            <a:ext cx="2173288" cy="447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C3A4DF-7B24-B577-A94E-D9355589B274}"/>
              </a:ext>
            </a:extLst>
          </p:cNvPr>
          <p:cNvSpPr txBox="1"/>
          <p:nvPr/>
        </p:nvSpPr>
        <p:spPr>
          <a:xfrm>
            <a:off x="3100388" y="2408238"/>
            <a:ext cx="6043612" cy="4156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u="sng" dirty="0">
                <a:solidFill>
                  <a:srgbClr val="680000"/>
                </a:solidFill>
                <a:latin typeface="AvantGarde Bk BT" panose="020B0402020202020204" pitchFamily="34" charset="0"/>
              </a:rPr>
              <a:t>Analysis</a:t>
            </a:r>
            <a:r>
              <a:rPr lang="en-US" b="0" dirty="0">
                <a:latin typeface="AvantGarde Bk BT" panose="020B0402020202020204" pitchFamily="34" charset="0"/>
              </a:rPr>
              <a:t>:</a:t>
            </a:r>
          </a:p>
          <a:p>
            <a:pPr marL="342900" indent="-342900">
              <a:buClr>
                <a:srgbClr val="680000"/>
              </a:buClr>
              <a:buFont typeface="Wingdings" panose="05000000000000000000" pitchFamily="2" charset="2"/>
              <a:buChar char="q"/>
              <a:defRPr/>
            </a:pPr>
            <a:r>
              <a:rPr lang="en-US" b="0" dirty="0">
                <a:latin typeface="AvantGarde Bk BT" panose="020B0402020202020204" pitchFamily="34" charset="0"/>
              </a:rPr>
              <a:t>When a user types in the key and the system reports an invalid key, the user may not know whether the problem is in his fingers or in his memory: “</a:t>
            </a:r>
            <a:r>
              <a:rPr lang="en-US" b="0" i="1" dirty="0">
                <a:latin typeface="AvantGarde Bk BT" panose="020B0402020202020204" pitchFamily="34" charset="0"/>
              </a:rPr>
              <a:t>did I mistype the correct key, or I forgot the key</a:t>
            </a:r>
            <a:r>
              <a:rPr lang="en-US" b="0" dirty="0">
                <a:latin typeface="AvantGarde Bk BT" panose="020B0402020202020204" pitchFamily="34" charset="0"/>
              </a:rPr>
              <a:t>?”</a:t>
            </a:r>
          </a:p>
          <a:p>
            <a:pPr marL="342900" indent="-342900">
              <a:buClr>
                <a:srgbClr val="680000"/>
              </a:buClr>
              <a:buFont typeface="Wingdings" panose="05000000000000000000" pitchFamily="2" charset="2"/>
              <a:buChar char="q"/>
              <a:defRPr/>
            </a:pPr>
            <a:r>
              <a:rPr lang="en-US" b="0" dirty="0">
                <a:latin typeface="AvantGarde Bk BT" panose="020B0402020202020204" pitchFamily="34" charset="0"/>
              </a:rPr>
              <a:t>To help the user in such a situation, we may propose to include a numerical display that shows the digits as the user types.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>
            <a:extLst>
              <a:ext uri="{FF2B5EF4-FFF2-40B4-BE49-F238E27FC236}">
                <a16:creationId xmlns:a16="http://schemas.microsoft.com/office/drawing/2014/main" id="{8AC71415-C460-78F5-7B36-64AA950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Safe Home Access</a:t>
            </a:r>
          </a:p>
        </p:txBody>
      </p:sp>
      <p:sp>
        <p:nvSpPr>
          <p:cNvPr id="71683" name="Slide Number Placeholder 2">
            <a:extLst>
              <a:ext uri="{FF2B5EF4-FFF2-40B4-BE49-F238E27FC236}">
                <a16:creationId xmlns:a16="http://schemas.microsoft.com/office/drawing/2014/main" id="{12F5D9DE-8124-F99F-A4C2-131701A2C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4FE744B-7C26-4D29-B30A-A1F695D9F122}" type="slidenum">
              <a:rPr lang="en-US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71684" name="TextBox 3">
            <a:extLst>
              <a:ext uri="{FF2B5EF4-FFF2-40B4-BE49-F238E27FC236}">
                <a16:creationId xmlns:a16="http://schemas.microsoft.com/office/drawing/2014/main" id="{F2B457A1-FEE2-A980-7EAB-D130E707A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495425"/>
            <a:ext cx="83105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>
                <a:latin typeface="AvantGarde Bk BT" pitchFamily="34" charset="0"/>
              </a:rPr>
              <a:t>Re-redesigned door keypad:  includes the keycode display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A79CE2-CCA0-6BEF-2047-BAAB5DA7508F}"/>
              </a:ext>
            </a:extLst>
          </p:cNvPr>
          <p:cNvSpPr txBox="1"/>
          <p:nvPr/>
        </p:nvSpPr>
        <p:spPr>
          <a:xfrm>
            <a:off x="3100388" y="2408238"/>
            <a:ext cx="6043612" cy="40322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u="sng" dirty="0">
                <a:solidFill>
                  <a:srgbClr val="680000"/>
                </a:solidFill>
                <a:latin typeface="AvantGarde Bk BT" panose="020B0402020202020204" pitchFamily="34" charset="0"/>
              </a:rPr>
              <a:t>Analysis</a:t>
            </a:r>
            <a:r>
              <a:rPr lang="en-US" b="0" dirty="0">
                <a:latin typeface="AvantGarde Bk BT" panose="020B0402020202020204" pitchFamily="34" charset="0"/>
              </a:rPr>
              <a:t>:</a:t>
            </a:r>
          </a:p>
          <a:p>
            <a:pPr marL="342900" indent="-342900">
              <a:buClr>
                <a:srgbClr val="680000"/>
              </a:buClr>
              <a:buFont typeface="Wingdings" panose="05000000000000000000" pitchFamily="2" charset="2"/>
              <a:buChar char="q"/>
              <a:defRPr/>
            </a:pPr>
            <a:r>
              <a:rPr lang="en-US" b="0" dirty="0">
                <a:latin typeface="AvantGarde Bk BT" panose="020B0402020202020204" pitchFamily="34" charset="0"/>
              </a:rPr>
              <a:t>There are several issues to consider about the display feature:</a:t>
            </a:r>
          </a:p>
          <a:p>
            <a:pPr marL="800100" lvl="1" indent="-342900">
              <a:buClr>
                <a:srgbClr val="680000"/>
              </a:buClr>
              <a:buFont typeface="Arial" panose="020B0604020202020204" pitchFamily="34" charset="0"/>
              <a:buChar char="•"/>
              <a:defRPr/>
            </a:pPr>
            <a:r>
              <a:rPr lang="en-US" sz="2000" b="0" dirty="0">
                <a:latin typeface="AvantGarde Bk BT" panose="020B0402020202020204" pitchFamily="34" charset="0"/>
              </a:rPr>
              <a:t>How much this feature would increase the overall cost?</a:t>
            </a:r>
          </a:p>
          <a:p>
            <a:pPr marL="800100" lvl="1" indent="-342900">
              <a:buClr>
                <a:srgbClr val="680000"/>
              </a:buClr>
              <a:buFont typeface="Arial" panose="020B0604020202020204" pitchFamily="34" charset="0"/>
              <a:buChar char="•"/>
              <a:defRPr/>
            </a:pPr>
            <a:r>
              <a:rPr lang="en-US" sz="2000" b="0" dirty="0">
                <a:latin typeface="AvantGarde Bk BT" panose="020B0402020202020204" pitchFamily="34" charset="0"/>
              </a:rPr>
              <a:t>Would the display make the door device bulky and inconvenient to install?</a:t>
            </a:r>
          </a:p>
          <a:p>
            <a:pPr marL="800100" lvl="1" indent="-342900">
              <a:buClr>
                <a:srgbClr val="680000"/>
              </a:buClr>
              <a:buFont typeface="Arial" panose="020B0604020202020204" pitchFamily="34" charset="0"/>
              <a:buChar char="•"/>
              <a:defRPr/>
            </a:pPr>
            <a:r>
              <a:rPr lang="en-US" sz="2000" b="0" dirty="0">
                <a:latin typeface="AvantGarde Bk BT" panose="020B0402020202020204" pitchFamily="34" charset="0"/>
              </a:rPr>
              <a:t>Would it be significantly more sensitive to rain and other elements?</a:t>
            </a:r>
          </a:p>
          <a:p>
            <a:pPr marL="800100" lvl="1" indent="-342900">
              <a:buClr>
                <a:srgbClr val="680000"/>
              </a:buClr>
              <a:buFont typeface="Arial" panose="020B0604020202020204" pitchFamily="34" charset="0"/>
              <a:buChar char="•"/>
              <a:defRPr/>
            </a:pPr>
            <a:r>
              <a:rPr lang="en-US" sz="2000" b="0" dirty="0">
                <a:latin typeface="AvantGarde Bk BT" panose="020B0402020202020204" pitchFamily="34" charset="0"/>
              </a:rPr>
              <a:t>Would the displayed information be helpful to an intruder trying to guess a valid key?</a:t>
            </a:r>
          </a:p>
          <a:p>
            <a:pPr marL="342900" indent="-342900">
              <a:buClr>
                <a:srgbClr val="680000"/>
              </a:buClr>
              <a:buFont typeface="Wingdings" panose="05000000000000000000" pitchFamily="2" charset="2"/>
              <a:buChar char="q"/>
              <a:defRPr/>
            </a:pPr>
            <a:endParaRPr lang="en-US" b="0" dirty="0">
              <a:latin typeface="AvantGarde Bk BT" panose="020B0402020202020204" pitchFamily="34" charset="0"/>
            </a:endParaRPr>
          </a:p>
        </p:txBody>
      </p:sp>
      <p:pic>
        <p:nvPicPr>
          <p:cNvPr id="71686" name="Picture 6">
            <a:extLst>
              <a:ext uri="{FF2B5EF4-FFF2-40B4-BE49-F238E27FC236}">
                <a16:creationId xmlns:a16="http://schemas.microsoft.com/office/drawing/2014/main" id="{FC1A7031-0FAC-F039-E00E-24FBC1112B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957388"/>
            <a:ext cx="1993900" cy="46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>
            <a:extLst>
              <a:ext uri="{FF2B5EF4-FFF2-40B4-BE49-F238E27FC236}">
                <a16:creationId xmlns:a16="http://schemas.microsoft.com/office/drawing/2014/main" id="{1EEFB46B-F145-FCD4-3D2E-F9E8234D73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Restaurant Table Assignments</a:t>
            </a:r>
          </a:p>
        </p:txBody>
      </p:sp>
      <p:pic>
        <p:nvPicPr>
          <p:cNvPr id="72707" name="Picture 2">
            <a:extLst>
              <a:ext uri="{FF2B5EF4-FFF2-40B4-BE49-F238E27FC236}">
                <a16:creationId xmlns:a16="http://schemas.microsoft.com/office/drawing/2014/main" id="{0739D551-7AD7-67D3-4085-8258FBFFE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2490788"/>
            <a:ext cx="3816350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08" name="Picture 3">
            <a:extLst>
              <a:ext uri="{FF2B5EF4-FFF2-40B4-BE49-F238E27FC236}">
                <a16:creationId xmlns:a16="http://schemas.microsoft.com/office/drawing/2014/main" id="{5C1C693F-1944-6E1B-64E8-FDE5789FDB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0" y="1184275"/>
            <a:ext cx="4254500" cy="567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557F56F4-6F0C-F570-C566-0BEBEAE001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GUI for UC6: </a:t>
            </a:r>
            <a:r>
              <a:rPr lang="en-US" altLang="en-US">
                <a:solidFill>
                  <a:schemeClr val="tx1"/>
                </a:solidFill>
              </a:rPr>
              <a:t>Set Device Pref’s</a:t>
            </a:r>
          </a:p>
        </p:txBody>
      </p:sp>
      <p:sp>
        <p:nvSpPr>
          <p:cNvPr id="73731" name="Text Box 47">
            <a:extLst>
              <a:ext uri="{FF2B5EF4-FFF2-40B4-BE49-F238E27FC236}">
                <a16:creationId xmlns:a16="http://schemas.microsoft.com/office/drawing/2014/main" id="{78EB6C0E-3F34-11AA-9961-B795F5669C0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152525" y="5754688"/>
            <a:ext cx="5753100" cy="3079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5720" tIns="0" rIns="45720" bIns="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>
                <a:latin typeface="Arial" panose="020B0604020202020204" pitchFamily="34" charset="0"/>
              </a:rPr>
              <a:t>( NOTE: Lock device is mandatory, not an option )</a:t>
            </a:r>
          </a:p>
        </p:txBody>
      </p:sp>
      <p:pic>
        <p:nvPicPr>
          <p:cNvPr id="73732" name="Picture 48">
            <a:extLst>
              <a:ext uri="{FF2B5EF4-FFF2-40B4-BE49-F238E27FC236}">
                <a16:creationId xmlns:a16="http://schemas.microsoft.com/office/drawing/2014/main" id="{AB11434A-02AB-8C9B-097D-C3C809933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875" y="1874838"/>
            <a:ext cx="6118225" cy="3300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478550</TotalTime>
  <Words>3724</Words>
  <Application>Microsoft Office PowerPoint</Application>
  <PresentationFormat>On-screen Show (4:3)</PresentationFormat>
  <Paragraphs>546</Paragraphs>
  <Slides>43</Slides>
  <Notes>27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Default Design</vt:lpstr>
      <vt:lpstr>PowerPoint Presentation</vt:lpstr>
      <vt:lpstr>Topics</vt:lpstr>
      <vt:lpstr>Use Cases</vt:lpstr>
      <vt:lpstr>Deriving Use Cases from System Requirements</vt:lpstr>
      <vt:lpstr>Types of Actors</vt:lpstr>
      <vt:lpstr>Use Case</vt:lpstr>
      <vt:lpstr>Use Case (Cont’d)</vt:lpstr>
      <vt:lpstr>Use Case (Cont’d)</vt:lpstr>
      <vt:lpstr>Use Case (Cont’d)</vt:lpstr>
      <vt:lpstr>Use Case (Cont’d)</vt:lpstr>
      <vt:lpstr>The &lt;&lt;extends&gt;&gt; Relationship</vt:lpstr>
      <vt:lpstr>The &lt;&lt;includes&gt;&gt; Relationship</vt:lpstr>
      <vt:lpstr>Use Case Diagram High-level goal: ARRIVE</vt:lpstr>
      <vt:lpstr>DRY Use Cases Remove Redundancies Using Subroutine Use Cases</vt:lpstr>
      <vt:lpstr>Subroutine Use Cases Optional Use Cases: «extend»</vt:lpstr>
      <vt:lpstr>Login Use Case?</vt:lpstr>
      <vt:lpstr>Use Case Diagram: Account Management</vt:lpstr>
      <vt:lpstr>Use Case Generalizations</vt:lpstr>
      <vt:lpstr>Traceability Matrix (1)</vt:lpstr>
      <vt:lpstr>Traceability Matrix Purpose</vt:lpstr>
      <vt:lpstr>Schema for Detailed Use Cases</vt:lpstr>
      <vt:lpstr>Use Case 1: Unlock</vt:lpstr>
      <vt:lpstr>Subroutine «include» Use Case</vt:lpstr>
      <vt:lpstr>Acceptance Test Case for UC-7 Authenticate User</vt:lpstr>
      <vt:lpstr>Use Case 2: Lock</vt:lpstr>
      <vt:lpstr>Use Case 3: Add User</vt:lpstr>
      <vt:lpstr>Use Case 5: Inspect Access History</vt:lpstr>
      <vt:lpstr>Example Use case: Wash Hands</vt:lpstr>
      <vt:lpstr>Example Use case: Wash Hands</vt:lpstr>
      <vt:lpstr>Example Use case: Wash Hands</vt:lpstr>
      <vt:lpstr>System Boundary &amp; Subsystems</vt:lpstr>
      <vt:lpstr>Modified Use Case Diagram</vt:lpstr>
      <vt:lpstr>Security and Risk Management</vt:lpstr>
      <vt:lpstr>System Sequence Diagram [Modeling System Workflows]</vt:lpstr>
      <vt:lpstr>System Sequence Diagram [Modeling System Workflows]</vt:lpstr>
      <vt:lpstr>Activity Diagram [Modeling System Workflows]</vt:lpstr>
      <vt:lpstr>Limitations of Use Cases</vt:lpstr>
      <vt:lpstr>User Interface Requirements</vt:lpstr>
      <vt:lpstr>Example: Safe Home Access</vt:lpstr>
      <vt:lpstr>Example: Safe Home Access</vt:lpstr>
      <vt:lpstr>Example: Safe Home Access</vt:lpstr>
      <vt:lpstr>Restaurant Table Assignments</vt:lpstr>
      <vt:lpstr>GUI for UC6: Set Device Pref’s</vt:lpstr>
    </vt:vector>
  </TitlesOfParts>
  <Company>Rutgers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Lecture Slides</dc:title>
  <dc:subject>lecture 5: Use Cases</dc:subject>
  <dc:creator>Ivan Marsic</dc:creator>
  <cp:keywords>software engineering, software development, object-oriented software engineeirng</cp:keywords>
  <cp:lastModifiedBy>Abdul Basit</cp:lastModifiedBy>
  <cp:revision>5078</cp:revision>
  <cp:lastPrinted>2021-10-10T21:44:36Z</cp:lastPrinted>
  <dcterms:created xsi:type="dcterms:W3CDTF">2003-05-20T05:14:33Z</dcterms:created>
  <dcterms:modified xsi:type="dcterms:W3CDTF">2024-10-10T19:31:51Z</dcterms:modified>
  <cp:category>lecture slides, course materials</cp:category>
</cp:coreProperties>
</file>